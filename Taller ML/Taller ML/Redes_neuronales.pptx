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9" r:id="rId3"/>
    <p:sldId id="270" r:id="rId4"/>
    <p:sldId id="271" r:id="rId5"/>
    <p:sldId id="308" r:id="rId6"/>
    <p:sldId id="273" r:id="rId7"/>
    <p:sldId id="274" r:id="rId8"/>
    <p:sldId id="309" r:id="rId9"/>
    <p:sldId id="272" r:id="rId10"/>
    <p:sldId id="310" r:id="rId11"/>
    <p:sldId id="275" r:id="rId12"/>
    <p:sldId id="276" r:id="rId13"/>
    <p:sldId id="277" r:id="rId14"/>
    <p:sldId id="278" r:id="rId15"/>
    <p:sldId id="304" r:id="rId16"/>
    <p:sldId id="306" r:id="rId17"/>
    <p:sldId id="280" r:id="rId18"/>
    <p:sldId id="281" r:id="rId19"/>
    <p:sldId id="311" r:id="rId20"/>
    <p:sldId id="312" r:id="rId21"/>
    <p:sldId id="313" r:id="rId22"/>
    <p:sldId id="314" r:id="rId23"/>
    <p:sldId id="315" r:id="rId24"/>
    <p:sldId id="279" r:id="rId25"/>
    <p:sldId id="284" r:id="rId26"/>
    <p:sldId id="30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500"/>
    <a:srgbClr val="FF97F0"/>
    <a:srgbClr val="E09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9" autoAdjust="0"/>
    <p:restoredTop sz="86441" autoAdjust="0"/>
  </p:normalViewPr>
  <p:slideViewPr>
    <p:cSldViewPr snapToGrid="0">
      <p:cViewPr varScale="1">
        <p:scale>
          <a:sx n="86" d="100"/>
          <a:sy n="86" d="100"/>
        </p:scale>
        <p:origin x="60" y="168"/>
      </p:cViewPr>
      <p:guideLst/>
    </p:cSldViewPr>
  </p:slideViewPr>
  <p:outlineViewPr>
    <p:cViewPr>
      <p:scale>
        <a:sx n="33" d="100"/>
        <a:sy n="33" d="100"/>
      </p:scale>
      <p:origin x="0" y="-78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99A82-42B1-41B0-A6F3-60C293101EFC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1380F-6402-4411-BEF6-252776D37F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463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1380F-6402-4411-BEF6-252776D37F8E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1135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1380F-6402-4411-BEF6-252776D37F8E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473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1380F-6402-4411-BEF6-252776D37F8E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8451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B878A-6EBE-447D-BB99-D75572B1E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2CED6-3571-491B-B55F-B4420D676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D5857-B18A-4913-9EE1-7E0CF6DB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DF054-47B1-4A29-83FF-11FBEAD4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85CC2-A2ED-419C-AA17-A969F436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074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E36F-BCE9-4E85-925C-B2D4F2064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0692E-A2A0-420C-ABB4-CC1AF95C7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9A9A2-E3C6-4BFE-A4CA-0541CE5B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45160-A2CA-453E-A89F-2CE86C31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A7D70-8CEB-44D9-BA56-52EEF6A7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356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63DD-C667-467B-B0A8-DEF057BF3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82F29-5CE0-4B77-9CD1-58F0FAA88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6978D-7E61-4A89-B5F3-25080521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B69E-40D8-45FC-A201-2B4CE85C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59F54-EC9F-4A1C-BCD8-FB2AAB3F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91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6538-FB18-484A-A991-143C2CA9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EEFA-1315-4F2B-B328-2A5FB7847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EE45F-97DF-40B1-9F45-3F29882C1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B826B-B0D9-416D-9002-1C8BB7D0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2AA0E-3325-44E3-97D0-D5C5C5ED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66C8E-BC8A-44D7-957E-F06FC91B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709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944F-0EE9-4AC5-9B06-24F7336BE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2285D-FBF8-4AB9-B03D-320E1DD84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71072-13A6-4364-9C25-C77A62CF8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264C4-8C3A-485A-BA27-3FA38BD53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117081-8A77-4630-B628-F4BB7E6EA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84725-191A-418A-B453-0E37B65F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A9146-ADE2-4CEA-8812-C0A7C197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308DD-D937-4167-A34D-16426CEB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423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A9DF-E3FA-40A1-A2CA-B29164CB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BC79E-6C90-4AB6-A3B1-EEA3667B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7B9A5-FA70-4885-A025-7EC810A42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AE196-0FC9-4292-9125-02C1F0C8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01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80A82-5EF3-4D4D-B19C-9D43EFFC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2E5B97-EF6C-47B0-838F-14F284D1D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25393-FD24-450A-AFD4-31942AD8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888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C7F2-1D4A-48A1-AECF-BA4AFD96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9513D-67DF-479A-BF34-A1A6DF0E9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48727-AAE5-46B5-9BA7-43F0099B9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3E5F2-95A2-447D-AF0D-10E84842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07453-57C6-4EB8-AD24-D2092A8D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A092F-9E63-40B4-BB40-524A6336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3854-DF43-4C82-B08B-8DEBC2099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4BC89-D3BA-429C-BD23-96D04F59D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DA32A-25AA-4550-B197-CFE3A61FF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1074E-7A93-4F37-ACBC-7EF6CDBA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9B997-9E27-41E2-8A27-1BBB620F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BC639-9901-40C1-8F84-C0000EA4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555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CC3E-8DB2-4B3A-91D0-02C63604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E49E7-A267-4C20-ADDD-0578C4DC6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4EC09-5F8E-4658-8F43-B03F9DC3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D7E4C-2E20-405A-BE1E-D92D8C07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11D0C-46A8-4D70-B81B-03877F14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162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D6AF6-192C-4A10-BA44-7D49743B1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D1773-7C14-4290-B2EC-07D3B8A84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D1023-98D9-4539-B1FC-4A18AB93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07378-5B51-43DA-A674-33E180E1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249CF-0198-4C65-8265-C4588070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23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DF5F91-ED6E-4585-B62B-66BECCC5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E4EEF-B6FF-4DD3-81AF-3648A7CFF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71D0F-568B-49D1-97B2-EFD983CAB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7224A-72FD-4524-ABBC-918080044509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C235D-FEA1-443B-B8A7-BCD987680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048D4-DA3F-4DB6-A813-A0333B27D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586DD-6480-4010-9E7E-A59BEA0B4BF4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0275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5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44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8.png"/><Relationship Id="rId7" Type="http://schemas.openxmlformats.org/officeDocument/2006/relationships/image" Target="../media/image6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7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3E1E-57BC-41F9-B394-303916D01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4">
                    <a:lumMod val="50000"/>
                  </a:schemeClr>
                </a:solidFill>
              </a:rPr>
              <a:t>Redes neuronales</a:t>
            </a:r>
            <a:endParaRPr lang="en-CA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9809A-03BC-471D-B342-E1903AEFDF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Profesora Idanis Diaz B.</a:t>
            </a:r>
          </a:p>
          <a:p>
            <a:r>
              <a:rPr lang="es-CO" dirty="0"/>
              <a:t>Introducción a aprendizaje de máquinas</a:t>
            </a:r>
          </a:p>
          <a:p>
            <a:r>
              <a:rPr lang="es-CO" dirty="0"/>
              <a:t>Universidad del Magdalena</a:t>
            </a:r>
          </a:p>
        </p:txBody>
      </p:sp>
    </p:spTree>
    <p:extLst>
      <p:ext uri="{BB962C8B-B14F-4D97-AF65-F5344CB8AC3E}">
        <p14:creationId xmlns:p14="http://schemas.microsoft.com/office/powerpoint/2010/main" val="198497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50A5D-E6ED-4313-B0B9-525A0CF1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69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Redes Neuronales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25F9D6-C8C4-4864-A120-B7858EB7B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0" y="1219339"/>
            <a:ext cx="9516998" cy="4525963"/>
          </a:xfrm>
        </p:spPr>
        <p:txBody>
          <a:bodyPr/>
          <a:lstStyle/>
          <a:p>
            <a:pPr marL="0" indent="0">
              <a:buNone/>
            </a:pPr>
            <a:r>
              <a:rPr lang="en-CA" sz="2000" dirty="0" err="1"/>
              <a:t>Basadas</a:t>
            </a:r>
            <a:r>
              <a:rPr lang="en-CA" sz="2000" dirty="0"/>
              <a:t> </a:t>
            </a:r>
            <a:r>
              <a:rPr lang="en-CA" sz="2000" dirty="0" err="1"/>
              <a:t>en</a:t>
            </a:r>
            <a:r>
              <a:rPr lang="en-CA" sz="2000" dirty="0"/>
              <a:t> la </a:t>
            </a:r>
            <a:r>
              <a:rPr lang="en-CA" sz="2000" dirty="0" err="1"/>
              <a:t>biolog</a:t>
            </a:r>
            <a:r>
              <a:rPr lang="es-CO" sz="2000" dirty="0" err="1"/>
              <a:t>ía</a:t>
            </a:r>
            <a:r>
              <a:rPr lang="es-CO" sz="2000" dirty="0"/>
              <a:t> humana</a:t>
            </a:r>
            <a:endParaRPr lang="en-CA" sz="2000" dirty="0"/>
          </a:p>
        </p:txBody>
      </p:sp>
      <p:pic>
        <p:nvPicPr>
          <p:cNvPr id="6" name="Picture 1029" descr="neuron2">
            <a:extLst>
              <a:ext uri="{FF2B5EF4-FFF2-40B4-BE49-F238E27FC236}">
                <a16:creationId xmlns:a16="http://schemas.microsoft.com/office/drawing/2014/main" id="{EAF97114-12AC-4E09-841C-6A8C9E37E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151" y="3001487"/>
            <a:ext cx="2929768" cy="219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AC72A9AB-A208-4F22-B895-88B27ACC9105}"/>
              </a:ext>
            </a:extLst>
          </p:cNvPr>
          <p:cNvSpPr/>
          <p:nvPr/>
        </p:nvSpPr>
        <p:spPr>
          <a:xfrm>
            <a:off x="6499774" y="5374046"/>
            <a:ext cx="54051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altLang="en-US" sz="2000" dirty="0"/>
              <a:t>Existen alrededor de 10 billones de neuronas interconectadas. Las terminales del axón se conectan con otras neuronas (sinapsis).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3CF1113-8349-4B70-A4F6-49E68DF719CA}"/>
              </a:ext>
            </a:extLst>
          </p:cNvPr>
          <p:cNvSpPr/>
          <p:nvPr/>
        </p:nvSpPr>
        <p:spPr>
          <a:xfrm>
            <a:off x="6463330" y="1263740"/>
            <a:ext cx="485153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altLang="en-US" sz="2000" dirty="0"/>
              <a:t>Las dendritas se conectan a miles de otras neuronas. Cuando se dispara una carga positiva o negativa las dendritas las reciben. La fuerza de todas la cargas recibida se suman.</a:t>
            </a:r>
          </a:p>
        </p:txBody>
      </p:sp>
      <p:pic>
        <p:nvPicPr>
          <p:cNvPr id="10" name="Imagen 9" descr="Diagrama&#10;&#10;Descripción generada automáticamente">
            <a:extLst>
              <a:ext uri="{FF2B5EF4-FFF2-40B4-BE49-F238E27FC236}">
                <a16:creationId xmlns:a16="http://schemas.microsoft.com/office/drawing/2014/main" id="{CAF56C3B-CC0A-42C2-81DC-3F7ADF11F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15" y="1889225"/>
            <a:ext cx="5814959" cy="374943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2D9CF72-4F85-4118-ACA6-4149D530C335}"/>
              </a:ext>
            </a:extLst>
          </p:cNvPr>
          <p:cNvSpPr txBox="1"/>
          <p:nvPr/>
        </p:nvSpPr>
        <p:spPr>
          <a:xfrm>
            <a:off x="684815" y="5638661"/>
            <a:ext cx="3746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 tomada de https://en.wikipedia.org/wiki/Neuron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6350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05BB6-F3AC-461D-B372-903290A2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954" y="784891"/>
            <a:ext cx="1911175" cy="1325563"/>
          </a:xfrm>
        </p:spPr>
        <p:txBody>
          <a:bodyPr>
            <a:normAutofit fontScale="90000"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Un poco de historia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413D57CA-015A-407B-AE0A-6CF6018E0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163807"/>
              </p:ext>
            </p:extLst>
          </p:nvPr>
        </p:nvGraphicFramePr>
        <p:xfrm>
          <a:off x="970996" y="3123095"/>
          <a:ext cx="103165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795">
                  <a:extLst>
                    <a:ext uri="{9D8B030D-6E8A-4147-A177-3AD203B41FA5}">
                      <a16:colId xmlns:a16="http://schemas.microsoft.com/office/drawing/2014/main" val="3893169881"/>
                    </a:ext>
                  </a:extLst>
                </a:gridCol>
                <a:gridCol w="1473795">
                  <a:extLst>
                    <a:ext uri="{9D8B030D-6E8A-4147-A177-3AD203B41FA5}">
                      <a16:colId xmlns:a16="http://schemas.microsoft.com/office/drawing/2014/main" val="2499308428"/>
                    </a:ext>
                  </a:extLst>
                </a:gridCol>
                <a:gridCol w="1473795">
                  <a:extLst>
                    <a:ext uri="{9D8B030D-6E8A-4147-A177-3AD203B41FA5}">
                      <a16:colId xmlns:a16="http://schemas.microsoft.com/office/drawing/2014/main" val="462604955"/>
                    </a:ext>
                  </a:extLst>
                </a:gridCol>
                <a:gridCol w="1473795">
                  <a:extLst>
                    <a:ext uri="{9D8B030D-6E8A-4147-A177-3AD203B41FA5}">
                      <a16:colId xmlns:a16="http://schemas.microsoft.com/office/drawing/2014/main" val="3644403384"/>
                    </a:ext>
                  </a:extLst>
                </a:gridCol>
                <a:gridCol w="1473795">
                  <a:extLst>
                    <a:ext uri="{9D8B030D-6E8A-4147-A177-3AD203B41FA5}">
                      <a16:colId xmlns:a16="http://schemas.microsoft.com/office/drawing/2014/main" val="4021301364"/>
                    </a:ext>
                  </a:extLst>
                </a:gridCol>
                <a:gridCol w="1473795">
                  <a:extLst>
                    <a:ext uri="{9D8B030D-6E8A-4147-A177-3AD203B41FA5}">
                      <a16:colId xmlns:a16="http://schemas.microsoft.com/office/drawing/2014/main" val="1022249511"/>
                    </a:ext>
                  </a:extLst>
                </a:gridCol>
                <a:gridCol w="1473795">
                  <a:extLst>
                    <a:ext uri="{9D8B030D-6E8A-4147-A177-3AD203B41FA5}">
                      <a16:colId xmlns:a16="http://schemas.microsoft.com/office/drawing/2014/main" val="4089361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1940</a:t>
                      </a:r>
                      <a:endParaRPr lang="es-CO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1950</a:t>
                      </a:r>
                      <a:endParaRPr lang="es-CO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1960</a:t>
                      </a:r>
                      <a:endParaRPr lang="es-CO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1970</a:t>
                      </a:r>
                      <a:endParaRPr lang="es-CO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1980</a:t>
                      </a:r>
                      <a:endParaRPr lang="es-CO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1990</a:t>
                      </a:r>
                      <a:endParaRPr lang="es-CO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2000</a:t>
                      </a:r>
                      <a:endParaRPr lang="es-CO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099338"/>
                  </a:ext>
                </a:extLst>
              </a:tr>
            </a:tbl>
          </a:graphicData>
        </a:graphic>
      </p:graphicFrame>
      <p:pic>
        <p:nvPicPr>
          <p:cNvPr id="1026" name="Picture 2" descr="McCulloch &amp; Pitts Publish the First Mathematical Model of a Neural Network  : History of Information">
            <a:extLst>
              <a:ext uri="{FF2B5EF4-FFF2-40B4-BE49-F238E27FC236}">
                <a16:creationId xmlns:a16="http://schemas.microsoft.com/office/drawing/2014/main" id="{875D64CE-BDA7-4AE5-A50F-3026F1401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93968"/>
            <a:ext cx="1392929" cy="146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EADD090-A91D-4F23-9D2A-6DA0F789E9A3}"/>
              </a:ext>
            </a:extLst>
          </p:cNvPr>
          <p:cNvSpPr txBox="1"/>
          <p:nvPr/>
        </p:nvSpPr>
        <p:spPr>
          <a:xfrm>
            <a:off x="699661" y="5252521"/>
            <a:ext cx="17941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Warren McCulloch y Walter Pitts – Proponen primer modelo de ANN (1943)</a:t>
            </a:r>
            <a:endParaRPr lang="es-CO" sz="1600" dirty="0"/>
          </a:p>
        </p:txBody>
      </p:sp>
      <p:pic>
        <p:nvPicPr>
          <p:cNvPr id="7" name="Imagen 6" descr="Foto en blanco y negro de un hombre serio&#10;&#10;Descripción generada automáticamente">
            <a:extLst>
              <a:ext uri="{FF2B5EF4-FFF2-40B4-BE49-F238E27FC236}">
                <a16:creationId xmlns:a16="http://schemas.microsoft.com/office/drawing/2014/main" id="{6B7A2032-185C-48D2-95C2-7CC104AEC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386" y="741887"/>
            <a:ext cx="1122216" cy="145831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CF63D87-D2DA-486A-96C2-E6D118BD2DC5}"/>
              </a:ext>
            </a:extLst>
          </p:cNvPr>
          <p:cNvSpPr txBox="1"/>
          <p:nvPr/>
        </p:nvSpPr>
        <p:spPr>
          <a:xfrm>
            <a:off x="2450626" y="2163441"/>
            <a:ext cx="1794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Frank Rosenblat introdujo el perceptrón (1957)</a:t>
            </a:r>
            <a:endParaRPr lang="es-CO" sz="1600" dirty="0"/>
          </a:p>
        </p:txBody>
      </p:sp>
      <p:pic>
        <p:nvPicPr>
          <p:cNvPr id="1028" name="Picture 4" descr="Improving upon Rosenblatt's perceptron | by Jean-Christophe B. Loiseau |  Towards Data Science">
            <a:extLst>
              <a:ext uri="{FF2B5EF4-FFF2-40B4-BE49-F238E27FC236}">
                <a16:creationId xmlns:a16="http://schemas.microsoft.com/office/drawing/2014/main" id="{3C8E8987-E1DF-4039-83B1-9A337C6B7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197" y="3703204"/>
            <a:ext cx="2079767" cy="1320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19BBA0BE-40A8-4AEF-A5AA-757559BFFF29}"/>
              </a:ext>
            </a:extLst>
          </p:cNvPr>
          <p:cNvCxnSpPr>
            <a:cxnSpLocks/>
          </p:cNvCxnSpPr>
          <p:nvPr/>
        </p:nvCxnSpPr>
        <p:spPr>
          <a:xfrm>
            <a:off x="1534664" y="3475463"/>
            <a:ext cx="1" cy="209269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B35E616-B2BA-4502-AD78-5FF5D51A8987}"/>
              </a:ext>
            </a:extLst>
          </p:cNvPr>
          <p:cNvCxnSpPr>
            <a:cxnSpLocks/>
          </p:cNvCxnSpPr>
          <p:nvPr/>
        </p:nvCxnSpPr>
        <p:spPr>
          <a:xfrm>
            <a:off x="4587287" y="3470846"/>
            <a:ext cx="1" cy="209269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DB4C716-2843-4B39-BC9F-7B21ACA677BC}"/>
              </a:ext>
            </a:extLst>
          </p:cNvPr>
          <p:cNvSpPr txBox="1"/>
          <p:nvPr/>
        </p:nvSpPr>
        <p:spPr>
          <a:xfrm>
            <a:off x="2884648" y="5124793"/>
            <a:ext cx="247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Bernard </a:t>
            </a:r>
            <a:r>
              <a:rPr lang="es-ES" sz="1600" dirty="0" err="1"/>
              <a:t>Widrow</a:t>
            </a:r>
            <a:r>
              <a:rPr lang="es-ES" sz="1600" dirty="0"/>
              <a:t> y Ted </a:t>
            </a:r>
            <a:r>
              <a:rPr lang="es-ES" sz="1600" dirty="0" err="1"/>
              <a:t>Hoff</a:t>
            </a:r>
            <a:r>
              <a:rPr lang="es-ES" sz="1600" dirty="0"/>
              <a:t> introducen el </a:t>
            </a:r>
            <a:r>
              <a:rPr lang="es-ES" sz="1600" dirty="0" err="1"/>
              <a:t>Adaline</a:t>
            </a:r>
            <a:r>
              <a:rPr lang="es-ES" sz="1600" dirty="0"/>
              <a:t> 1960</a:t>
            </a:r>
            <a:endParaRPr lang="es-CO" sz="1600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E39BAE1-FD02-42EA-83EB-EABFD133BF46}"/>
              </a:ext>
            </a:extLst>
          </p:cNvPr>
          <p:cNvCxnSpPr>
            <a:cxnSpLocks/>
          </p:cNvCxnSpPr>
          <p:nvPr/>
        </p:nvCxnSpPr>
        <p:spPr>
          <a:xfrm flipV="1">
            <a:off x="3152161" y="2938988"/>
            <a:ext cx="0" cy="193343"/>
          </a:xfrm>
          <a:prstGeom prst="straightConnector1">
            <a:avLst/>
          </a:prstGeom>
          <a:ln w="158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Remembering Marvin Minsky, the Father of Artificial Intelligence – The New  Stack">
            <a:extLst>
              <a:ext uri="{FF2B5EF4-FFF2-40B4-BE49-F238E27FC236}">
                <a16:creationId xmlns:a16="http://schemas.microsoft.com/office/drawing/2014/main" id="{EEBADA2D-D05A-4EF2-84BD-C041DF8B2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46" y="1005920"/>
            <a:ext cx="1158421" cy="115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Una persona con la boca abierta en un fondo negro&#10;&#10;Descripción generada automáticamente con confianza baja">
            <a:extLst>
              <a:ext uri="{FF2B5EF4-FFF2-40B4-BE49-F238E27FC236}">
                <a16:creationId xmlns:a16="http://schemas.microsoft.com/office/drawing/2014/main" id="{6D7684E8-165C-430B-B916-ABF69726FC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867" y="1001507"/>
            <a:ext cx="828744" cy="1167245"/>
          </a:xfrm>
          <a:prstGeom prst="rect">
            <a:avLst/>
          </a:prstGeom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49C87D7-1BAA-40C6-B6FC-D6A566A4FDCD}"/>
              </a:ext>
            </a:extLst>
          </p:cNvPr>
          <p:cNvCxnSpPr>
            <a:cxnSpLocks/>
          </p:cNvCxnSpPr>
          <p:nvPr/>
        </p:nvCxnSpPr>
        <p:spPr>
          <a:xfrm flipV="1">
            <a:off x="5428930" y="2943607"/>
            <a:ext cx="0" cy="193343"/>
          </a:xfrm>
          <a:prstGeom prst="straightConnector1">
            <a:avLst/>
          </a:prstGeom>
          <a:ln w="158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0E5890E-619E-426D-A08E-92437AB9F890}"/>
              </a:ext>
            </a:extLst>
          </p:cNvPr>
          <p:cNvSpPr txBox="1"/>
          <p:nvPr/>
        </p:nvSpPr>
        <p:spPr>
          <a:xfrm>
            <a:off x="4470401" y="2135839"/>
            <a:ext cx="2181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Minsky y Seymour Plantearon el problema del XOR (1969)</a:t>
            </a:r>
            <a:endParaRPr lang="es-CO" sz="16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8D83BC2-D827-4251-89F0-361766009143}"/>
              </a:ext>
            </a:extLst>
          </p:cNvPr>
          <p:cNvSpPr txBox="1"/>
          <p:nvPr/>
        </p:nvSpPr>
        <p:spPr>
          <a:xfrm>
            <a:off x="5906782" y="5023932"/>
            <a:ext cx="2600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David </a:t>
            </a:r>
            <a:r>
              <a:rPr lang="es-ES" sz="1600" dirty="0" err="1"/>
              <a:t>Rumelhart</a:t>
            </a:r>
            <a:r>
              <a:rPr lang="es-ES" sz="1600" dirty="0"/>
              <a:t>, Geoffrey, Hinton y Ronald </a:t>
            </a:r>
            <a:r>
              <a:rPr lang="es-CO" sz="1600" dirty="0"/>
              <a:t>Williams, </a:t>
            </a:r>
            <a:r>
              <a:rPr lang="es-CO" sz="1600" dirty="0" err="1"/>
              <a:t>Percetron</a:t>
            </a:r>
            <a:r>
              <a:rPr lang="es-CO" sz="1600" dirty="0"/>
              <a:t> multicapas y </a:t>
            </a:r>
            <a:r>
              <a:rPr lang="es-CO" sz="1600" dirty="0" err="1"/>
              <a:t>backpropagation</a:t>
            </a:r>
            <a:r>
              <a:rPr lang="es-CO" sz="1600" dirty="0"/>
              <a:t> (1986)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7A61CF84-EE24-4771-BD86-9990A152FAF3}"/>
              </a:ext>
            </a:extLst>
          </p:cNvPr>
          <p:cNvCxnSpPr>
            <a:cxnSpLocks/>
          </p:cNvCxnSpPr>
          <p:nvPr/>
        </p:nvCxnSpPr>
        <p:spPr>
          <a:xfrm>
            <a:off x="7566020" y="3475466"/>
            <a:ext cx="1" cy="209269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15BB000-2109-429D-8344-3B1F2E73BA58}"/>
              </a:ext>
            </a:extLst>
          </p:cNvPr>
          <p:cNvCxnSpPr>
            <a:cxnSpLocks/>
          </p:cNvCxnSpPr>
          <p:nvPr/>
        </p:nvCxnSpPr>
        <p:spPr>
          <a:xfrm>
            <a:off x="6096000" y="3012876"/>
            <a:ext cx="1376218" cy="0"/>
          </a:xfrm>
          <a:prstGeom prst="straightConnector1">
            <a:avLst/>
          </a:prstGeom>
          <a:ln w="15875">
            <a:solidFill>
              <a:schemeClr val="accent4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48CC3A9-CE48-4067-A288-187AAC06B63F}"/>
              </a:ext>
            </a:extLst>
          </p:cNvPr>
          <p:cNvSpPr txBox="1"/>
          <p:nvPr/>
        </p:nvSpPr>
        <p:spPr>
          <a:xfrm>
            <a:off x="6290486" y="2703406"/>
            <a:ext cx="1874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4">
                    <a:lumMod val="75000"/>
                  </a:schemeClr>
                </a:solidFill>
              </a:rPr>
              <a:t>Invierno</a:t>
            </a:r>
            <a:endParaRPr lang="es-CO" sz="1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18F5B1E-9424-45CC-AEDD-6B364C891A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677" y="3703204"/>
            <a:ext cx="2821169" cy="1232137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83C1E85-9A3D-47B4-B15F-24079593C2AF}"/>
              </a:ext>
            </a:extLst>
          </p:cNvPr>
          <p:cNvSpPr txBox="1"/>
          <p:nvPr/>
        </p:nvSpPr>
        <p:spPr>
          <a:xfrm>
            <a:off x="7342909" y="1625600"/>
            <a:ext cx="1290633" cy="535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554CC821-DC76-4973-9388-AD20BF713E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2620" y="725416"/>
            <a:ext cx="982965" cy="1217785"/>
          </a:xfrm>
          <a:prstGeom prst="rect">
            <a:avLst/>
          </a:prstGeom>
        </p:spPr>
      </p:pic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4B5F1862-1DE6-4BF4-B73B-2964D129B617}"/>
              </a:ext>
            </a:extLst>
          </p:cNvPr>
          <p:cNvCxnSpPr>
            <a:cxnSpLocks/>
          </p:cNvCxnSpPr>
          <p:nvPr/>
        </p:nvCxnSpPr>
        <p:spPr>
          <a:xfrm flipV="1">
            <a:off x="8832537" y="2938989"/>
            <a:ext cx="0" cy="193343"/>
          </a:xfrm>
          <a:prstGeom prst="straightConnector1">
            <a:avLst/>
          </a:prstGeom>
          <a:ln w="158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76A60B7-00D4-4576-88C7-A81775F8CFF1}"/>
              </a:ext>
            </a:extLst>
          </p:cNvPr>
          <p:cNvSpPr txBox="1"/>
          <p:nvPr/>
        </p:nvSpPr>
        <p:spPr>
          <a:xfrm>
            <a:off x="7970982" y="1891903"/>
            <a:ext cx="22501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err="1"/>
              <a:t>Sepp</a:t>
            </a:r>
            <a:r>
              <a:rPr lang="es-CO" sz="1600" dirty="0"/>
              <a:t> </a:t>
            </a:r>
            <a:r>
              <a:rPr lang="es-CO" sz="1600" dirty="0" err="1"/>
              <a:t>Hochreiter</a:t>
            </a:r>
            <a:r>
              <a:rPr lang="es-CO" sz="1600" dirty="0"/>
              <a:t> </a:t>
            </a:r>
            <a:r>
              <a:rPr lang="es-ES" sz="1600" dirty="0"/>
              <a:t>Identifica el problema de los gradientes que se desvanecen (1991)</a:t>
            </a:r>
            <a:endParaRPr lang="es-CO" sz="1600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309F1802-9F9F-4546-BFD9-BEF4C1332CFF}"/>
              </a:ext>
            </a:extLst>
          </p:cNvPr>
          <p:cNvCxnSpPr>
            <a:cxnSpLocks/>
          </p:cNvCxnSpPr>
          <p:nvPr/>
        </p:nvCxnSpPr>
        <p:spPr>
          <a:xfrm>
            <a:off x="9171709" y="3012876"/>
            <a:ext cx="1400752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2C2B420-038C-44AA-A764-3662DC91A038}"/>
              </a:ext>
            </a:extLst>
          </p:cNvPr>
          <p:cNvSpPr txBox="1"/>
          <p:nvPr/>
        </p:nvSpPr>
        <p:spPr>
          <a:xfrm>
            <a:off x="9852338" y="2713472"/>
            <a:ext cx="1027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SVM</a:t>
            </a:r>
            <a:endParaRPr lang="es-CO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31B4079-1ECC-4BBA-AC72-8A73A669D896}"/>
              </a:ext>
            </a:extLst>
          </p:cNvPr>
          <p:cNvSpPr txBox="1"/>
          <p:nvPr/>
        </p:nvSpPr>
        <p:spPr>
          <a:xfrm>
            <a:off x="8917825" y="4977752"/>
            <a:ext cx="28054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Yoshua Bengio, Antoine Bordes, Xavier Glorot, función de activación Relu (2011)</a:t>
            </a:r>
            <a:endParaRPr lang="es-CO" sz="1600" dirty="0"/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672D6FFF-F964-4700-A6E8-42F91CA8A6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5495" y="3679775"/>
            <a:ext cx="2790825" cy="1200150"/>
          </a:xfrm>
          <a:prstGeom prst="rect">
            <a:avLst/>
          </a:prstGeom>
        </p:spPr>
      </p:pic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869E5174-8361-4F81-9431-6529F356161F}"/>
              </a:ext>
            </a:extLst>
          </p:cNvPr>
          <p:cNvCxnSpPr>
            <a:cxnSpLocks/>
          </p:cNvCxnSpPr>
          <p:nvPr/>
        </p:nvCxnSpPr>
        <p:spPr>
          <a:xfrm>
            <a:off x="10572462" y="3470851"/>
            <a:ext cx="1" cy="209269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61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1A6CA-1BB9-4842-B177-0F94C886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10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Una neurona artificial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DA159126-6768-4FA1-934A-71F209EFD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32" y="1645920"/>
            <a:ext cx="4542301" cy="29288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CE2701-FBF8-C767-CA1F-51C99A6B6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187" y="1247011"/>
            <a:ext cx="4820323" cy="3658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2F4900A-ADFD-1B45-8354-4DFB6BF9218D}"/>
                  </a:ext>
                </a:extLst>
              </p:cNvPr>
              <p:cNvSpPr txBox="1"/>
              <p:nvPr/>
            </p:nvSpPr>
            <p:spPr>
              <a:xfrm>
                <a:off x="7896606" y="4991322"/>
                <a:ext cx="2569742" cy="9545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2F4900A-ADFD-1B45-8354-4DFB6BF92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606" y="4991322"/>
                <a:ext cx="2569742" cy="9545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4E07168-2444-05E7-C064-F9B753754FA0}"/>
              </a:ext>
            </a:extLst>
          </p:cNvPr>
          <p:cNvCxnSpPr>
            <a:cxnSpLocks/>
          </p:cNvCxnSpPr>
          <p:nvPr/>
        </p:nvCxnSpPr>
        <p:spPr>
          <a:xfrm>
            <a:off x="5568696" y="1343373"/>
            <a:ext cx="0" cy="4965987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241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9FB35C9-6062-5EF7-470B-969D64318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43" y="2423373"/>
            <a:ext cx="4633998" cy="243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AE3ED0E-9199-ADE2-0E9E-1D4AB8CF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372" y="1352074"/>
            <a:ext cx="4820323" cy="3658111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D986B0A-AE76-624A-4AAA-F6A19B6F9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47" y="261646"/>
            <a:ext cx="6008383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Recordando regresión logística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5D692A4-3592-40B1-EDFE-AFA42E30906B}"/>
              </a:ext>
            </a:extLst>
          </p:cNvPr>
          <p:cNvSpPr txBox="1"/>
          <p:nvPr/>
        </p:nvSpPr>
        <p:spPr>
          <a:xfrm>
            <a:off x="637839" y="51763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La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/>
              </a:rPr>
              <a:t>regresión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/>
              </a:rPr>
              <a:t>logística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/>
              </a:rPr>
              <a:t>puede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 ser vista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/>
              </a:rPr>
              <a:t>como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/>
              </a:rPr>
              <a:t>una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 Neue"/>
              </a:rPr>
              <a:t>neurona</a:t>
            </a:r>
            <a:endParaRPr 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3">
                <a:extLst>
                  <a:ext uri="{FF2B5EF4-FFF2-40B4-BE49-F238E27FC236}">
                    <a16:creationId xmlns:a16="http://schemas.microsoft.com/office/drawing/2014/main" id="{845DF5A6-6A82-CB14-7DE0-C1BCEBEB9BA4}"/>
                  </a:ext>
                </a:extLst>
              </p:cNvPr>
              <p:cNvSpPr txBox="1"/>
              <p:nvPr/>
            </p:nvSpPr>
            <p:spPr>
              <a:xfrm>
                <a:off x="815103" y="1570460"/>
                <a:ext cx="54334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A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CO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s-CO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CA" sz="2800" dirty="0"/>
              </a:p>
            </p:txBody>
          </p:sp>
        </mc:Choice>
        <mc:Fallback xmlns="">
          <p:sp>
            <p:nvSpPr>
              <p:cNvPr id="11" name="TextBox 3">
                <a:extLst>
                  <a:ext uri="{FF2B5EF4-FFF2-40B4-BE49-F238E27FC236}">
                    <a16:creationId xmlns:a16="http://schemas.microsoft.com/office/drawing/2014/main" id="{845DF5A6-6A82-CB14-7DE0-C1BCEBEB9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03" y="1570460"/>
                <a:ext cx="5433475" cy="430887"/>
              </a:xfrm>
              <a:prstGeom prst="rect">
                <a:avLst/>
              </a:prstGeom>
              <a:blipFill>
                <a:blip r:embed="rId4"/>
                <a:stretch>
                  <a:fillRect l="-11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852E24D-EE1B-443A-DF21-485D86A640D9}"/>
              </a:ext>
            </a:extLst>
          </p:cNvPr>
          <p:cNvCxnSpPr>
            <a:cxnSpLocks/>
          </p:cNvCxnSpPr>
          <p:nvPr/>
        </p:nvCxnSpPr>
        <p:spPr>
          <a:xfrm>
            <a:off x="6565392" y="1242789"/>
            <a:ext cx="0" cy="4965987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5AC9EC-74A1-78C6-EF41-F59C591FF8A1}"/>
                  </a:ext>
                </a:extLst>
              </p:cNvPr>
              <p:cNvSpPr txBox="1"/>
              <p:nvPr/>
            </p:nvSpPr>
            <p:spPr>
              <a:xfrm>
                <a:off x="8290306" y="5010185"/>
                <a:ext cx="2569742" cy="9545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5AC9EC-74A1-78C6-EF41-F59C591FF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306" y="5010185"/>
                <a:ext cx="2569742" cy="9545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588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5E5368-2DF0-43B0-A443-E0EEEECC8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966" y="160337"/>
            <a:ext cx="8229600" cy="98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s-CO" sz="3600" b="1" dirty="0">
                <a:solidFill>
                  <a:schemeClr val="accent4">
                    <a:lumMod val="50000"/>
                  </a:schemeClr>
                </a:solidFill>
              </a:rPr>
              <a:t>Redes </a:t>
            </a:r>
            <a:r>
              <a:rPr lang="en-CA" altLang="es-CO" sz="3600" b="1" dirty="0" err="1">
                <a:solidFill>
                  <a:schemeClr val="accent4">
                    <a:lumMod val="50000"/>
                  </a:schemeClr>
                </a:solidFill>
              </a:rPr>
              <a:t>neuronales</a:t>
            </a:r>
            <a:endParaRPr lang="en-CA" alt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E8B0337-3F30-4ACA-AA6C-AC75CBAA8230}"/>
              </a:ext>
            </a:extLst>
          </p:cNvPr>
          <p:cNvSpPr txBox="1"/>
          <p:nvPr/>
        </p:nvSpPr>
        <p:spPr>
          <a:xfrm>
            <a:off x="2149766" y="1219200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Feed-Forward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D54135C-A884-4B4D-9A00-3B043FF4E6DE}"/>
              </a:ext>
            </a:extLst>
          </p:cNvPr>
          <p:cNvSpPr txBox="1"/>
          <p:nvPr/>
        </p:nvSpPr>
        <p:spPr>
          <a:xfrm>
            <a:off x="7962149" y="1200145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Recurrentes</a:t>
            </a:r>
            <a:endParaRPr lang="en-US" sz="2000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B6B06B5-A5E0-4F24-B46F-2F897A3DE206}"/>
              </a:ext>
            </a:extLst>
          </p:cNvPr>
          <p:cNvSpPr txBox="1"/>
          <p:nvPr/>
        </p:nvSpPr>
        <p:spPr>
          <a:xfrm>
            <a:off x="693500" y="5436823"/>
            <a:ext cx="10334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Una red neuronal está conformada por unidades de neuronas interconectadas entre sí, en las que la salida de una neurona puede estar conectada a la entrada de otra neurona.</a:t>
            </a:r>
            <a:endParaRPr lang="en-CA" sz="2000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62F846E-5203-8CE2-9EC1-EA2DEDAC3DF1}"/>
              </a:ext>
            </a:extLst>
          </p:cNvPr>
          <p:cNvSpPr/>
          <p:nvPr/>
        </p:nvSpPr>
        <p:spPr>
          <a:xfrm>
            <a:off x="1290822" y="2145084"/>
            <a:ext cx="462111" cy="447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E7DAD39-D9D6-6C8B-F8F7-BB4A868EA537}"/>
              </a:ext>
            </a:extLst>
          </p:cNvPr>
          <p:cNvSpPr/>
          <p:nvPr/>
        </p:nvSpPr>
        <p:spPr>
          <a:xfrm>
            <a:off x="1290821" y="2837730"/>
            <a:ext cx="462111" cy="447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5529A6E-8782-A704-C11D-212A1DB50D17}"/>
              </a:ext>
            </a:extLst>
          </p:cNvPr>
          <p:cNvSpPr/>
          <p:nvPr/>
        </p:nvSpPr>
        <p:spPr>
          <a:xfrm>
            <a:off x="1277015" y="3587491"/>
            <a:ext cx="462111" cy="447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9292379-1B05-FFF3-D305-CD9C715C36A5}"/>
              </a:ext>
            </a:extLst>
          </p:cNvPr>
          <p:cNvSpPr/>
          <p:nvPr/>
        </p:nvSpPr>
        <p:spPr>
          <a:xfrm>
            <a:off x="2390502" y="2398833"/>
            <a:ext cx="462111" cy="447473"/>
          </a:xfrm>
          <a:prstGeom prst="ellipse">
            <a:avLst/>
          </a:prstGeom>
          <a:solidFill>
            <a:srgbClr val="E09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628F1AE-96D1-8EF4-EF4F-B3699DC294AB}"/>
              </a:ext>
            </a:extLst>
          </p:cNvPr>
          <p:cNvSpPr/>
          <p:nvPr/>
        </p:nvSpPr>
        <p:spPr>
          <a:xfrm>
            <a:off x="2390502" y="3147210"/>
            <a:ext cx="462111" cy="447473"/>
          </a:xfrm>
          <a:prstGeom prst="ellipse">
            <a:avLst/>
          </a:prstGeom>
          <a:solidFill>
            <a:srgbClr val="E09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29DDAC5-D68E-E1B0-E89F-EB3CE4B4BDAF}"/>
              </a:ext>
            </a:extLst>
          </p:cNvPr>
          <p:cNvSpPr/>
          <p:nvPr/>
        </p:nvSpPr>
        <p:spPr>
          <a:xfrm>
            <a:off x="2390501" y="3858284"/>
            <a:ext cx="462111" cy="447473"/>
          </a:xfrm>
          <a:prstGeom prst="ellipse">
            <a:avLst/>
          </a:prstGeom>
          <a:solidFill>
            <a:srgbClr val="E09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6D31114-4AC6-01ED-D55B-71F22ED1841A}"/>
              </a:ext>
            </a:extLst>
          </p:cNvPr>
          <p:cNvSpPr/>
          <p:nvPr/>
        </p:nvSpPr>
        <p:spPr>
          <a:xfrm>
            <a:off x="2390502" y="1758672"/>
            <a:ext cx="462111" cy="447473"/>
          </a:xfrm>
          <a:prstGeom prst="ellipse">
            <a:avLst/>
          </a:prstGeom>
          <a:solidFill>
            <a:srgbClr val="E09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5958719-1A32-9A90-705E-ED2475252219}"/>
              </a:ext>
            </a:extLst>
          </p:cNvPr>
          <p:cNvSpPr/>
          <p:nvPr/>
        </p:nvSpPr>
        <p:spPr>
          <a:xfrm>
            <a:off x="3526761" y="2405317"/>
            <a:ext cx="462111" cy="447473"/>
          </a:xfrm>
          <a:prstGeom prst="ellipse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76503AD-5254-A0ED-B595-E7E5BEDAB5CB}"/>
              </a:ext>
            </a:extLst>
          </p:cNvPr>
          <p:cNvSpPr/>
          <p:nvPr/>
        </p:nvSpPr>
        <p:spPr>
          <a:xfrm>
            <a:off x="3526761" y="3153694"/>
            <a:ext cx="462111" cy="447473"/>
          </a:xfrm>
          <a:prstGeom prst="ellipse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D641C0E-9DAF-3B1A-0F88-699C9F1863AF}"/>
              </a:ext>
            </a:extLst>
          </p:cNvPr>
          <p:cNvSpPr/>
          <p:nvPr/>
        </p:nvSpPr>
        <p:spPr>
          <a:xfrm>
            <a:off x="3526760" y="3864768"/>
            <a:ext cx="462111" cy="447473"/>
          </a:xfrm>
          <a:prstGeom prst="ellipse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44B658F-E731-B318-C840-53D9C792A031}"/>
              </a:ext>
            </a:extLst>
          </p:cNvPr>
          <p:cNvSpPr/>
          <p:nvPr/>
        </p:nvSpPr>
        <p:spPr>
          <a:xfrm>
            <a:off x="3526761" y="1765156"/>
            <a:ext cx="462111" cy="447473"/>
          </a:xfrm>
          <a:prstGeom prst="ellipse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C73F6B3-5260-A57C-6113-CD2E9ED65957}"/>
              </a:ext>
            </a:extLst>
          </p:cNvPr>
          <p:cNvSpPr/>
          <p:nvPr/>
        </p:nvSpPr>
        <p:spPr>
          <a:xfrm>
            <a:off x="4521448" y="2866233"/>
            <a:ext cx="462111" cy="447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EFF2CF0-ABFB-3E4B-EF22-E9FB3BAF0972}"/>
              </a:ext>
            </a:extLst>
          </p:cNvPr>
          <p:cNvCxnSpPr>
            <a:stCxn id="2" idx="6"/>
            <a:endCxn id="14" idx="3"/>
          </p:cNvCxnSpPr>
          <p:nvPr/>
        </p:nvCxnSpPr>
        <p:spPr>
          <a:xfrm flipV="1">
            <a:off x="1752933" y="2140614"/>
            <a:ext cx="705244" cy="2282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160268C-0A20-2770-3AF3-6E6E783BBFB6}"/>
              </a:ext>
            </a:extLst>
          </p:cNvPr>
          <p:cNvCxnSpPr>
            <a:stCxn id="2" idx="6"/>
            <a:endCxn id="11" idx="2"/>
          </p:cNvCxnSpPr>
          <p:nvPr/>
        </p:nvCxnSpPr>
        <p:spPr>
          <a:xfrm>
            <a:off x="1752933" y="2368821"/>
            <a:ext cx="637569" cy="253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01C41B6-C5F7-50B4-EC4F-530AA1D6A49F}"/>
              </a:ext>
            </a:extLst>
          </p:cNvPr>
          <p:cNvCxnSpPr>
            <a:stCxn id="2" idx="6"/>
            <a:endCxn id="12" idx="2"/>
          </p:cNvCxnSpPr>
          <p:nvPr/>
        </p:nvCxnSpPr>
        <p:spPr>
          <a:xfrm>
            <a:off x="1752933" y="2368821"/>
            <a:ext cx="637569" cy="10021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FD7D8AC-7E80-B55D-1C51-8C070325EAB8}"/>
              </a:ext>
            </a:extLst>
          </p:cNvPr>
          <p:cNvCxnSpPr>
            <a:stCxn id="2" idx="6"/>
            <a:endCxn id="13" idx="2"/>
          </p:cNvCxnSpPr>
          <p:nvPr/>
        </p:nvCxnSpPr>
        <p:spPr>
          <a:xfrm>
            <a:off x="1752933" y="2368821"/>
            <a:ext cx="637568" cy="171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824D23E-702B-A354-A4AC-1C151A4E841C}"/>
              </a:ext>
            </a:extLst>
          </p:cNvPr>
          <p:cNvCxnSpPr>
            <a:stCxn id="3" idx="6"/>
            <a:endCxn id="14" idx="3"/>
          </p:cNvCxnSpPr>
          <p:nvPr/>
        </p:nvCxnSpPr>
        <p:spPr>
          <a:xfrm flipV="1">
            <a:off x="1752932" y="2140614"/>
            <a:ext cx="705245" cy="920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D4275D6A-09AE-4CA9-3234-FADBF6621CC3}"/>
              </a:ext>
            </a:extLst>
          </p:cNvPr>
          <p:cNvCxnSpPr>
            <a:stCxn id="3" idx="6"/>
            <a:endCxn id="11" idx="2"/>
          </p:cNvCxnSpPr>
          <p:nvPr/>
        </p:nvCxnSpPr>
        <p:spPr>
          <a:xfrm flipV="1">
            <a:off x="1752932" y="2622570"/>
            <a:ext cx="637570" cy="438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D976A97A-46DE-ADB4-AB06-4346E2880F79}"/>
              </a:ext>
            </a:extLst>
          </p:cNvPr>
          <p:cNvCxnSpPr>
            <a:stCxn id="3" idx="6"/>
            <a:endCxn id="12" idx="2"/>
          </p:cNvCxnSpPr>
          <p:nvPr/>
        </p:nvCxnSpPr>
        <p:spPr>
          <a:xfrm>
            <a:off x="1752932" y="3061467"/>
            <a:ext cx="637570" cy="309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3D009A14-A1CC-72F2-4328-A8B405480DFA}"/>
              </a:ext>
            </a:extLst>
          </p:cNvPr>
          <p:cNvCxnSpPr>
            <a:stCxn id="3" idx="6"/>
            <a:endCxn id="13" idx="2"/>
          </p:cNvCxnSpPr>
          <p:nvPr/>
        </p:nvCxnSpPr>
        <p:spPr>
          <a:xfrm>
            <a:off x="1752932" y="3061467"/>
            <a:ext cx="637569" cy="102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DC92B85-FC4D-2372-3ACF-BBBDED630728}"/>
              </a:ext>
            </a:extLst>
          </p:cNvPr>
          <p:cNvCxnSpPr>
            <a:stCxn id="10" idx="6"/>
            <a:endCxn id="14" idx="3"/>
          </p:cNvCxnSpPr>
          <p:nvPr/>
        </p:nvCxnSpPr>
        <p:spPr>
          <a:xfrm flipV="1">
            <a:off x="1739126" y="2140614"/>
            <a:ext cx="719051" cy="1670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569DEBE4-EA72-E406-9D9F-9FAF7E5CBBE7}"/>
              </a:ext>
            </a:extLst>
          </p:cNvPr>
          <p:cNvCxnSpPr>
            <a:stCxn id="10" idx="6"/>
            <a:endCxn id="11" idx="3"/>
          </p:cNvCxnSpPr>
          <p:nvPr/>
        </p:nvCxnSpPr>
        <p:spPr>
          <a:xfrm flipV="1">
            <a:off x="1739126" y="2780775"/>
            <a:ext cx="719051" cy="1030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9EE8260D-2B02-148D-71E8-BBBD459C6CD5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 flipV="1">
            <a:off x="1739126" y="3370947"/>
            <a:ext cx="651376" cy="440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195C621F-01BF-ED5F-E226-07E3EE8DF128}"/>
              </a:ext>
            </a:extLst>
          </p:cNvPr>
          <p:cNvCxnSpPr>
            <a:stCxn id="10" idx="6"/>
            <a:endCxn id="13" idx="2"/>
          </p:cNvCxnSpPr>
          <p:nvPr/>
        </p:nvCxnSpPr>
        <p:spPr>
          <a:xfrm>
            <a:off x="1739126" y="3811228"/>
            <a:ext cx="651375" cy="270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967F4C6B-4337-ADC5-7780-D211DF5F04E2}"/>
              </a:ext>
            </a:extLst>
          </p:cNvPr>
          <p:cNvCxnSpPr>
            <a:stCxn id="14" idx="6"/>
            <a:endCxn id="19" idx="2"/>
          </p:cNvCxnSpPr>
          <p:nvPr/>
        </p:nvCxnSpPr>
        <p:spPr>
          <a:xfrm>
            <a:off x="2852613" y="1982409"/>
            <a:ext cx="674148" cy="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20482A64-BF5E-AE0B-8D84-3D496EF188EE}"/>
              </a:ext>
            </a:extLst>
          </p:cNvPr>
          <p:cNvCxnSpPr>
            <a:stCxn id="14" idx="6"/>
            <a:endCxn id="16" idx="2"/>
          </p:cNvCxnSpPr>
          <p:nvPr/>
        </p:nvCxnSpPr>
        <p:spPr>
          <a:xfrm>
            <a:off x="2852613" y="1982409"/>
            <a:ext cx="674148" cy="646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9EEF512E-F709-50CA-EB70-DBB8D9D53715}"/>
              </a:ext>
            </a:extLst>
          </p:cNvPr>
          <p:cNvCxnSpPr>
            <a:stCxn id="14" idx="6"/>
            <a:endCxn id="17" idx="2"/>
          </p:cNvCxnSpPr>
          <p:nvPr/>
        </p:nvCxnSpPr>
        <p:spPr>
          <a:xfrm>
            <a:off x="2852613" y="1982409"/>
            <a:ext cx="674148" cy="1395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C11358D1-4D84-7B44-2E5E-A331B12EC555}"/>
              </a:ext>
            </a:extLst>
          </p:cNvPr>
          <p:cNvCxnSpPr>
            <a:stCxn id="14" idx="6"/>
            <a:endCxn id="18" idx="2"/>
          </p:cNvCxnSpPr>
          <p:nvPr/>
        </p:nvCxnSpPr>
        <p:spPr>
          <a:xfrm>
            <a:off x="2852613" y="1982409"/>
            <a:ext cx="674147" cy="2106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3166F8C0-DF43-8427-55FA-C004868D76DB}"/>
              </a:ext>
            </a:extLst>
          </p:cNvPr>
          <p:cNvCxnSpPr>
            <a:cxnSpLocks/>
            <a:stCxn id="11" idx="6"/>
            <a:endCxn id="19" idx="2"/>
          </p:cNvCxnSpPr>
          <p:nvPr/>
        </p:nvCxnSpPr>
        <p:spPr>
          <a:xfrm flipV="1">
            <a:off x="2852613" y="1988893"/>
            <a:ext cx="674148" cy="633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D034D3AC-5492-8020-B94B-1EDCCC27DAB6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>
            <a:off x="2852613" y="2622570"/>
            <a:ext cx="674148" cy="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E2F4D61E-AF0C-39BB-969D-931CCEF7D53C}"/>
              </a:ext>
            </a:extLst>
          </p:cNvPr>
          <p:cNvCxnSpPr>
            <a:cxnSpLocks/>
            <a:stCxn id="11" idx="6"/>
            <a:endCxn id="17" idx="1"/>
          </p:cNvCxnSpPr>
          <p:nvPr/>
        </p:nvCxnSpPr>
        <p:spPr>
          <a:xfrm>
            <a:off x="2852613" y="2622570"/>
            <a:ext cx="741823" cy="596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AA64E738-3FA7-B79E-F5C9-C2108F4F12AC}"/>
              </a:ext>
            </a:extLst>
          </p:cNvPr>
          <p:cNvCxnSpPr>
            <a:cxnSpLocks/>
            <a:stCxn id="11" idx="6"/>
            <a:endCxn id="18" idx="2"/>
          </p:cNvCxnSpPr>
          <p:nvPr/>
        </p:nvCxnSpPr>
        <p:spPr>
          <a:xfrm>
            <a:off x="2852613" y="2622570"/>
            <a:ext cx="674147" cy="14659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506DA0C6-0271-2055-5BEC-D2447B1DF155}"/>
              </a:ext>
            </a:extLst>
          </p:cNvPr>
          <p:cNvCxnSpPr>
            <a:cxnSpLocks/>
            <a:stCxn id="12" idx="6"/>
            <a:endCxn id="19" idx="2"/>
          </p:cNvCxnSpPr>
          <p:nvPr/>
        </p:nvCxnSpPr>
        <p:spPr>
          <a:xfrm flipV="1">
            <a:off x="2852613" y="1988893"/>
            <a:ext cx="674148" cy="138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Conector recto de flecha 2048">
            <a:extLst>
              <a:ext uri="{FF2B5EF4-FFF2-40B4-BE49-F238E27FC236}">
                <a16:creationId xmlns:a16="http://schemas.microsoft.com/office/drawing/2014/main" id="{D784B934-94BC-5934-8A1A-D72AE0F2196D}"/>
              </a:ext>
            </a:extLst>
          </p:cNvPr>
          <p:cNvCxnSpPr>
            <a:stCxn id="12" idx="6"/>
            <a:endCxn id="16" idx="2"/>
          </p:cNvCxnSpPr>
          <p:nvPr/>
        </p:nvCxnSpPr>
        <p:spPr>
          <a:xfrm flipV="1">
            <a:off x="2852613" y="2629054"/>
            <a:ext cx="674148" cy="7418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3" name="Conector recto de flecha 2052">
            <a:extLst>
              <a:ext uri="{FF2B5EF4-FFF2-40B4-BE49-F238E27FC236}">
                <a16:creationId xmlns:a16="http://schemas.microsoft.com/office/drawing/2014/main" id="{318E1157-9B37-200F-3E02-3D053805FB18}"/>
              </a:ext>
            </a:extLst>
          </p:cNvPr>
          <p:cNvCxnSpPr>
            <a:stCxn id="12" idx="6"/>
            <a:endCxn id="17" idx="2"/>
          </p:cNvCxnSpPr>
          <p:nvPr/>
        </p:nvCxnSpPr>
        <p:spPr>
          <a:xfrm>
            <a:off x="2852613" y="3370947"/>
            <a:ext cx="674148" cy="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Conector recto de flecha 2054">
            <a:extLst>
              <a:ext uri="{FF2B5EF4-FFF2-40B4-BE49-F238E27FC236}">
                <a16:creationId xmlns:a16="http://schemas.microsoft.com/office/drawing/2014/main" id="{B2CF3D60-BA44-49F5-22D5-415F07A15DC7}"/>
              </a:ext>
            </a:extLst>
          </p:cNvPr>
          <p:cNvCxnSpPr>
            <a:stCxn id="12" idx="6"/>
            <a:endCxn id="18" idx="2"/>
          </p:cNvCxnSpPr>
          <p:nvPr/>
        </p:nvCxnSpPr>
        <p:spPr>
          <a:xfrm>
            <a:off x="2852613" y="3370947"/>
            <a:ext cx="674147" cy="7175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Conector recto de flecha 2056">
            <a:extLst>
              <a:ext uri="{FF2B5EF4-FFF2-40B4-BE49-F238E27FC236}">
                <a16:creationId xmlns:a16="http://schemas.microsoft.com/office/drawing/2014/main" id="{A31EE8DA-6785-2788-F8F7-CB04510D3C45}"/>
              </a:ext>
            </a:extLst>
          </p:cNvPr>
          <p:cNvCxnSpPr>
            <a:stCxn id="13" idx="6"/>
            <a:endCxn id="19" idx="2"/>
          </p:cNvCxnSpPr>
          <p:nvPr/>
        </p:nvCxnSpPr>
        <p:spPr>
          <a:xfrm flipV="1">
            <a:off x="2852612" y="1988893"/>
            <a:ext cx="674149" cy="2093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Conector recto de flecha 2058">
            <a:extLst>
              <a:ext uri="{FF2B5EF4-FFF2-40B4-BE49-F238E27FC236}">
                <a16:creationId xmlns:a16="http://schemas.microsoft.com/office/drawing/2014/main" id="{6544037D-99D5-733D-A63E-98B58E6E8779}"/>
              </a:ext>
            </a:extLst>
          </p:cNvPr>
          <p:cNvCxnSpPr>
            <a:stCxn id="13" idx="6"/>
            <a:endCxn id="16" idx="2"/>
          </p:cNvCxnSpPr>
          <p:nvPr/>
        </p:nvCxnSpPr>
        <p:spPr>
          <a:xfrm flipV="1">
            <a:off x="2852612" y="2629054"/>
            <a:ext cx="674149" cy="145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Conector recto de flecha 2060">
            <a:extLst>
              <a:ext uri="{FF2B5EF4-FFF2-40B4-BE49-F238E27FC236}">
                <a16:creationId xmlns:a16="http://schemas.microsoft.com/office/drawing/2014/main" id="{B12BF4E7-0561-6545-7546-3C9678AE9CC0}"/>
              </a:ext>
            </a:extLst>
          </p:cNvPr>
          <p:cNvCxnSpPr>
            <a:stCxn id="13" idx="6"/>
            <a:endCxn id="17" idx="2"/>
          </p:cNvCxnSpPr>
          <p:nvPr/>
        </p:nvCxnSpPr>
        <p:spPr>
          <a:xfrm flipV="1">
            <a:off x="2852612" y="3377431"/>
            <a:ext cx="674149" cy="7045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Conector recto de flecha 2062">
            <a:extLst>
              <a:ext uri="{FF2B5EF4-FFF2-40B4-BE49-F238E27FC236}">
                <a16:creationId xmlns:a16="http://schemas.microsoft.com/office/drawing/2014/main" id="{616B1BCF-CDFA-5D04-9215-9A4ED039C743}"/>
              </a:ext>
            </a:extLst>
          </p:cNvPr>
          <p:cNvCxnSpPr>
            <a:stCxn id="13" idx="6"/>
            <a:endCxn id="18" idx="2"/>
          </p:cNvCxnSpPr>
          <p:nvPr/>
        </p:nvCxnSpPr>
        <p:spPr>
          <a:xfrm>
            <a:off x="2852612" y="4082021"/>
            <a:ext cx="674148" cy="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Conector recto de flecha 2064">
            <a:extLst>
              <a:ext uri="{FF2B5EF4-FFF2-40B4-BE49-F238E27FC236}">
                <a16:creationId xmlns:a16="http://schemas.microsoft.com/office/drawing/2014/main" id="{493F9063-2C16-0AD7-DAF7-59CEABB54812}"/>
              </a:ext>
            </a:extLst>
          </p:cNvPr>
          <p:cNvCxnSpPr>
            <a:cxnSpLocks/>
            <a:stCxn id="19" idx="5"/>
            <a:endCxn id="20" idx="1"/>
          </p:cNvCxnSpPr>
          <p:nvPr/>
        </p:nvCxnSpPr>
        <p:spPr>
          <a:xfrm>
            <a:off x="3921197" y="2147098"/>
            <a:ext cx="667926" cy="78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8" name="Conector recto de flecha 2067">
            <a:extLst>
              <a:ext uri="{FF2B5EF4-FFF2-40B4-BE49-F238E27FC236}">
                <a16:creationId xmlns:a16="http://schemas.microsoft.com/office/drawing/2014/main" id="{D7036E55-D72F-4848-6CE4-835AE6C93DB3}"/>
              </a:ext>
            </a:extLst>
          </p:cNvPr>
          <p:cNvCxnSpPr>
            <a:stCxn id="16" idx="6"/>
            <a:endCxn id="20" idx="1"/>
          </p:cNvCxnSpPr>
          <p:nvPr/>
        </p:nvCxnSpPr>
        <p:spPr>
          <a:xfrm>
            <a:off x="3988872" y="2629054"/>
            <a:ext cx="600251" cy="302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Conector recto de flecha 2069">
            <a:extLst>
              <a:ext uri="{FF2B5EF4-FFF2-40B4-BE49-F238E27FC236}">
                <a16:creationId xmlns:a16="http://schemas.microsoft.com/office/drawing/2014/main" id="{D723F34F-C1D3-5CE3-ED78-FC95486A1B76}"/>
              </a:ext>
            </a:extLst>
          </p:cNvPr>
          <p:cNvCxnSpPr>
            <a:stCxn id="17" idx="6"/>
            <a:endCxn id="20" idx="2"/>
          </p:cNvCxnSpPr>
          <p:nvPr/>
        </p:nvCxnSpPr>
        <p:spPr>
          <a:xfrm flipV="1">
            <a:off x="3988872" y="3089970"/>
            <a:ext cx="532576" cy="287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Conector recto de flecha 2071">
            <a:extLst>
              <a:ext uri="{FF2B5EF4-FFF2-40B4-BE49-F238E27FC236}">
                <a16:creationId xmlns:a16="http://schemas.microsoft.com/office/drawing/2014/main" id="{8656FD38-BEAA-3DB1-E3EB-985EC4B8F8C0}"/>
              </a:ext>
            </a:extLst>
          </p:cNvPr>
          <p:cNvCxnSpPr>
            <a:stCxn id="18" idx="6"/>
            <a:endCxn id="20" idx="2"/>
          </p:cNvCxnSpPr>
          <p:nvPr/>
        </p:nvCxnSpPr>
        <p:spPr>
          <a:xfrm flipV="1">
            <a:off x="3988871" y="3089970"/>
            <a:ext cx="532577" cy="998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CuadroTexto 2075">
            <a:extLst>
              <a:ext uri="{FF2B5EF4-FFF2-40B4-BE49-F238E27FC236}">
                <a16:creationId xmlns:a16="http://schemas.microsoft.com/office/drawing/2014/main" id="{771DC5D4-F357-96E8-8FD2-54349335FF35}"/>
              </a:ext>
            </a:extLst>
          </p:cNvPr>
          <p:cNvSpPr txBox="1"/>
          <p:nvPr/>
        </p:nvSpPr>
        <p:spPr>
          <a:xfrm>
            <a:off x="972621" y="4305449"/>
            <a:ext cx="120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Capa de entrada</a:t>
            </a:r>
            <a:endParaRPr lang="es-CO" sz="2000" dirty="0"/>
          </a:p>
        </p:txBody>
      </p:sp>
      <p:sp>
        <p:nvSpPr>
          <p:cNvPr id="2077" name="CuadroTexto 2076">
            <a:extLst>
              <a:ext uri="{FF2B5EF4-FFF2-40B4-BE49-F238E27FC236}">
                <a16:creationId xmlns:a16="http://schemas.microsoft.com/office/drawing/2014/main" id="{9188A58C-AE96-1A98-38A1-01340BF5DF38}"/>
              </a:ext>
            </a:extLst>
          </p:cNvPr>
          <p:cNvSpPr txBox="1"/>
          <p:nvPr/>
        </p:nvSpPr>
        <p:spPr>
          <a:xfrm>
            <a:off x="2179122" y="4286056"/>
            <a:ext cx="120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Capa oculta</a:t>
            </a:r>
            <a:endParaRPr lang="es-CO" sz="2000" dirty="0"/>
          </a:p>
        </p:txBody>
      </p:sp>
      <p:sp>
        <p:nvSpPr>
          <p:cNvPr id="2078" name="CuadroTexto 2077">
            <a:extLst>
              <a:ext uri="{FF2B5EF4-FFF2-40B4-BE49-F238E27FC236}">
                <a16:creationId xmlns:a16="http://schemas.microsoft.com/office/drawing/2014/main" id="{47E43B97-D50C-B9F6-171F-CE6557EC21FC}"/>
              </a:ext>
            </a:extLst>
          </p:cNvPr>
          <p:cNvSpPr txBox="1"/>
          <p:nvPr/>
        </p:nvSpPr>
        <p:spPr>
          <a:xfrm>
            <a:off x="3363522" y="4286056"/>
            <a:ext cx="120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Capa oculta</a:t>
            </a:r>
            <a:endParaRPr lang="es-CO" sz="2000" dirty="0"/>
          </a:p>
        </p:txBody>
      </p:sp>
      <p:sp>
        <p:nvSpPr>
          <p:cNvPr id="2079" name="CuadroTexto 2078">
            <a:extLst>
              <a:ext uri="{FF2B5EF4-FFF2-40B4-BE49-F238E27FC236}">
                <a16:creationId xmlns:a16="http://schemas.microsoft.com/office/drawing/2014/main" id="{BA7EB5EF-A970-8027-F994-AD672B69CAB3}"/>
              </a:ext>
            </a:extLst>
          </p:cNvPr>
          <p:cNvSpPr txBox="1"/>
          <p:nvPr/>
        </p:nvSpPr>
        <p:spPr>
          <a:xfrm>
            <a:off x="4468948" y="4246711"/>
            <a:ext cx="120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Capa de salida</a:t>
            </a:r>
            <a:endParaRPr lang="es-CO" sz="2000" dirty="0"/>
          </a:p>
        </p:txBody>
      </p:sp>
      <p:cxnSp>
        <p:nvCxnSpPr>
          <p:cNvPr id="2081" name="Conector recto 2080">
            <a:extLst>
              <a:ext uri="{FF2B5EF4-FFF2-40B4-BE49-F238E27FC236}">
                <a16:creationId xmlns:a16="http://schemas.microsoft.com/office/drawing/2014/main" id="{95AC472D-A475-90BE-B556-F33B502B6913}"/>
              </a:ext>
            </a:extLst>
          </p:cNvPr>
          <p:cNvCxnSpPr/>
          <p:nvPr/>
        </p:nvCxnSpPr>
        <p:spPr>
          <a:xfrm>
            <a:off x="4255159" y="1731557"/>
            <a:ext cx="0" cy="2692931"/>
          </a:xfrm>
          <a:prstGeom prst="line">
            <a:avLst/>
          </a:prstGeom>
          <a:ln w="19050" cap="flat" cmpd="sng" algn="ctr">
            <a:solidFill>
              <a:schemeClr val="accent4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82" name="Conector recto 2081">
            <a:extLst>
              <a:ext uri="{FF2B5EF4-FFF2-40B4-BE49-F238E27FC236}">
                <a16:creationId xmlns:a16="http://schemas.microsoft.com/office/drawing/2014/main" id="{449A5374-AE04-BB74-1AF5-587281FE188A}"/>
              </a:ext>
            </a:extLst>
          </p:cNvPr>
          <p:cNvCxnSpPr/>
          <p:nvPr/>
        </p:nvCxnSpPr>
        <p:spPr>
          <a:xfrm>
            <a:off x="3184033" y="1731558"/>
            <a:ext cx="0" cy="2692931"/>
          </a:xfrm>
          <a:prstGeom prst="line">
            <a:avLst/>
          </a:prstGeom>
          <a:ln w="19050" cap="flat" cmpd="sng" algn="ctr">
            <a:solidFill>
              <a:schemeClr val="accent4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83" name="Conector recto 2082">
            <a:extLst>
              <a:ext uri="{FF2B5EF4-FFF2-40B4-BE49-F238E27FC236}">
                <a16:creationId xmlns:a16="http://schemas.microsoft.com/office/drawing/2014/main" id="{2951026D-5AB5-577D-CAC2-B7067FF8F013}"/>
              </a:ext>
            </a:extLst>
          </p:cNvPr>
          <p:cNvCxnSpPr/>
          <p:nvPr/>
        </p:nvCxnSpPr>
        <p:spPr>
          <a:xfrm>
            <a:off x="2131651" y="1731556"/>
            <a:ext cx="0" cy="2692931"/>
          </a:xfrm>
          <a:prstGeom prst="line">
            <a:avLst/>
          </a:prstGeom>
          <a:ln w="19050" cap="flat" cmpd="sng" algn="ctr">
            <a:solidFill>
              <a:schemeClr val="accent4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85" name="Elipse 2084">
            <a:extLst>
              <a:ext uri="{FF2B5EF4-FFF2-40B4-BE49-F238E27FC236}">
                <a16:creationId xmlns:a16="http://schemas.microsoft.com/office/drawing/2014/main" id="{66BC9FBF-5F52-C389-7674-1B9D5067DC78}"/>
              </a:ext>
            </a:extLst>
          </p:cNvPr>
          <p:cNvSpPr/>
          <p:nvPr/>
        </p:nvSpPr>
        <p:spPr>
          <a:xfrm>
            <a:off x="6939048" y="2367285"/>
            <a:ext cx="462111" cy="447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86" name="Elipse 2085">
            <a:extLst>
              <a:ext uri="{FF2B5EF4-FFF2-40B4-BE49-F238E27FC236}">
                <a16:creationId xmlns:a16="http://schemas.microsoft.com/office/drawing/2014/main" id="{86D82CFD-B321-ADCC-BB35-A0B83A5011C8}"/>
              </a:ext>
            </a:extLst>
          </p:cNvPr>
          <p:cNvSpPr/>
          <p:nvPr/>
        </p:nvSpPr>
        <p:spPr>
          <a:xfrm>
            <a:off x="6939047" y="3059931"/>
            <a:ext cx="462111" cy="447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87" name="Elipse 2086">
            <a:extLst>
              <a:ext uri="{FF2B5EF4-FFF2-40B4-BE49-F238E27FC236}">
                <a16:creationId xmlns:a16="http://schemas.microsoft.com/office/drawing/2014/main" id="{F6909A54-278D-0556-E327-50C69BE69AC8}"/>
              </a:ext>
            </a:extLst>
          </p:cNvPr>
          <p:cNvSpPr/>
          <p:nvPr/>
        </p:nvSpPr>
        <p:spPr>
          <a:xfrm>
            <a:off x="6925241" y="3809692"/>
            <a:ext cx="462111" cy="447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88" name="Elipse 2087">
            <a:extLst>
              <a:ext uri="{FF2B5EF4-FFF2-40B4-BE49-F238E27FC236}">
                <a16:creationId xmlns:a16="http://schemas.microsoft.com/office/drawing/2014/main" id="{84BC6523-7A11-A0E0-EE28-7A6B3BA35716}"/>
              </a:ext>
            </a:extLst>
          </p:cNvPr>
          <p:cNvSpPr/>
          <p:nvPr/>
        </p:nvSpPr>
        <p:spPr>
          <a:xfrm>
            <a:off x="8038728" y="2621034"/>
            <a:ext cx="462111" cy="447473"/>
          </a:xfrm>
          <a:prstGeom prst="ellipse">
            <a:avLst/>
          </a:prstGeom>
          <a:solidFill>
            <a:srgbClr val="E09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89" name="Elipse 2088">
            <a:extLst>
              <a:ext uri="{FF2B5EF4-FFF2-40B4-BE49-F238E27FC236}">
                <a16:creationId xmlns:a16="http://schemas.microsoft.com/office/drawing/2014/main" id="{64CAB503-32AF-729A-7F2A-402C1AAAD044}"/>
              </a:ext>
            </a:extLst>
          </p:cNvPr>
          <p:cNvSpPr/>
          <p:nvPr/>
        </p:nvSpPr>
        <p:spPr>
          <a:xfrm>
            <a:off x="8038728" y="3369411"/>
            <a:ext cx="462111" cy="447473"/>
          </a:xfrm>
          <a:prstGeom prst="ellipse">
            <a:avLst/>
          </a:prstGeom>
          <a:solidFill>
            <a:srgbClr val="E09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0" name="Elipse 2089">
            <a:extLst>
              <a:ext uri="{FF2B5EF4-FFF2-40B4-BE49-F238E27FC236}">
                <a16:creationId xmlns:a16="http://schemas.microsoft.com/office/drawing/2014/main" id="{654A302C-4BFC-89D4-890A-373A71AD1C23}"/>
              </a:ext>
            </a:extLst>
          </p:cNvPr>
          <p:cNvSpPr/>
          <p:nvPr/>
        </p:nvSpPr>
        <p:spPr>
          <a:xfrm>
            <a:off x="8038727" y="4080485"/>
            <a:ext cx="462111" cy="447473"/>
          </a:xfrm>
          <a:prstGeom prst="ellipse">
            <a:avLst/>
          </a:prstGeom>
          <a:solidFill>
            <a:srgbClr val="E09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1" name="Elipse 2090">
            <a:extLst>
              <a:ext uri="{FF2B5EF4-FFF2-40B4-BE49-F238E27FC236}">
                <a16:creationId xmlns:a16="http://schemas.microsoft.com/office/drawing/2014/main" id="{FC829628-A8C9-9A1B-98D3-17DEE2C9ACFB}"/>
              </a:ext>
            </a:extLst>
          </p:cNvPr>
          <p:cNvSpPr/>
          <p:nvPr/>
        </p:nvSpPr>
        <p:spPr>
          <a:xfrm>
            <a:off x="8038728" y="1980873"/>
            <a:ext cx="462111" cy="447473"/>
          </a:xfrm>
          <a:prstGeom prst="ellipse">
            <a:avLst/>
          </a:prstGeom>
          <a:solidFill>
            <a:srgbClr val="E09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2" name="Elipse 2091">
            <a:extLst>
              <a:ext uri="{FF2B5EF4-FFF2-40B4-BE49-F238E27FC236}">
                <a16:creationId xmlns:a16="http://schemas.microsoft.com/office/drawing/2014/main" id="{2810934D-59E9-15FB-C3EC-3BFA84F41F4B}"/>
              </a:ext>
            </a:extLst>
          </p:cNvPr>
          <p:cNvSpPr/>
          <p:nvPr/>
        </p:nvSpPr>
        <p:spPr>
          <a:xfrm>
            <a:off x="9174987" y="2627518"/>
            <a:ext cx="462111" cy="447473"/>
          </a:xfrm>
          <a:prstGeom prst="ellipse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3" name="Elipse 2092">
            <a:extLst>
              <a:ext uri="{FF2B5EF4-FFF2-40B4-BE49-F238E27FC236}">
                <a16:creationId xmlns:a16="http://schemas.microsoft.com/office/drawing/2014/main" id="{7AB4C53D-1EDC-3013-DCA0-1CFECBA7DC4A}"/>
              </a:ext>
            </a:extLst>
          </p:cNvPr>
          <p:cNvSpPr/>
          <p:nvPr/>
        </p:nvSpPr>
        <p:spPr>
          <a:xfrm>
            <a:off x="9174987" y="3375895"/>
            <a:ext cx="462111" cy="447473"/>
          </a:xfrm>
          <a:prstGeom prst="ellipse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4" name="Elipse 2093">
            <a:extLst>
              <a:ext uri="{FF2B5EF4-FFF2-40B4-BE49-F238E27FC236}">
                <a16:creationId xmlns:a16="http://schemas.microsoft.com/office/drawing/2014/main" id="{478E4073-077F-2D0A-7B4C-82F7F5322784}"/>
              </a:ext>
            </a:extLst>
          </p:cNvPr>
          <p:cNvSpPr/>
          <p:nvPr/>
        </p:nvSpPr>
        <p:spPr>
          <a:xfrm>
            <a:off x="9174986" y="4086969"/>
            <a:ext cx="462111" cy="447473"/>
          </a:xfrm>
          <a:prstGeom prst="ellipse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5" name="Elipse 2094">
            <a:extLst>
              <a:ext uri="{FF2B5EF4-FFF2-40B4-BE49-F238E27FC236}">
                <a16:creationId xmlns:a16="http://schemas.microsoft.com/office/drawing/2014/main" id="{89EF436A-323B-F4CF-0371-2DD6F2562868}"/>
              </a:ext>
            </a:extLst>
          </p:cNvPr>
          <p:cNvSpPr/>
          <p:nvPr/>
        </p:nvSpPr>
        <p:spPr>
          <a:xfrm>
            <a:off x="9174987" y="1987357"/>
            <a:ext cx="462111" cy="447473"/>
          </a:xfrm>
          <a:prstGeom prst="ellipse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96" name="Elipse 2095">
            <a:extLst>
              <a:ext uri="{FF2B5EF4-FFF2-40B4-BE49-F238E27FC236}">
                <a16:creationId xmlns:a16="http://schemas.microsoft.com/office/drawing/2014/main" id="{314F84F8-4690-ECBB-623D-7AE16217D95D}"/>
              </a:ext>
            </a:extLst>
          </p:cNvPr>
          <p:cNvSpPr/>
          <p:nvPr/>
        </p:nvSpPr>
        <p:spPr>
          <a:xfrm>
            <a:off x="10169674" y="3088434"/>
            <a:ext cx="462111" cy="447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097" name="Conector recto de flecha 2096">
            <a:extLst>
              <a:ext uri="{FF2B5EF4-FFF2-40B4-BE49-F238E27FC236}">
                <a16:creationId xmlns:a16="http://schemas.microsoft.com/office/drawing/2014/main" id="{9C59B3F1-3FC0-1991-3620-7527DC18DC79}"/>
              </a:ext>
            </a:extLst>
          </p:cNvPr>
          <p:cNvCxnSpPr>
            <a:stCxn id="2085" idx="6"/>
            <a:endCxn id="2091" idx="3"/>
          </p:cNvCxnSpPr>
          <p:nvPr/>
        </p:nvCxnSpPr>
        <p:spPr>
          <a:xfrm flipV="1">
            <a:off x="7401159" y="2362815"/>
            <a:ext cx="705244" cy="2282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Conector recto de flecha 2097">
            <a:extLst>
              <a:ext uri="{FF2B5EF4-FFF2-40B4-BE49-F238E27FC236}">
                <a16:creationId xmlns:a16="http://schemas.microsoft.com/office/drawing/2014/main" id="{2A60CE8B-4006-CD52-80BF-D5D63C8004C1}"/>
              </a:ext>
            </a:extLst>
          </p:cNvPr>
          <p:cNvCxnSpPr>
            <a:stCxn id="2085" idx="6"/>
            <a:endCxn id="2088" idx="2"/>
          </p:cNvCxnSpPr>
          <p:nvPr/>
        </p:nvCxnSpPr>
        <p:spPr>
          <a:xfrm>
            <a:off x="7401159" y="2591022"/>
            <a:ext cx="637569" cy="253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9" name="Conector recto de flecha 2098">
            <a:extLst>
              <a:ext uri="{FF2B5EF4-FFF2-40B4-BE49-F238E27FC236}">
                <a16:creationId xmlns:a16="http://schemas.microsoft.com/office/drawing/2014/main" id="{AFFE52ED-F626-1210-8445-76E69A345810}"/>
              </a:ext>
            </a:extLst>
          </p:cNvPr>
          <p:cNvCxnSpPr>
            <a:stCxn id="2085" idx="6"/>
            <a:endCxn id="2089" idx="2"/>
          </p:cNvCxnSpPr>
          <p:nvPr/>
        </p:nvCxnSpPr>
        <p:spPr>
          <a:xfrm>
            <a:off x="7401159" y="2591022"/>
            <a:ext cx="637569" cy="10021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0" name="Conector recto de flecha 2099">
            <a:extLst>
              <a:ext uri="{FF2B5EF4-FFF2-40B4-BE49-F238E27FC236}">
                <a16:creationId xmlns:a16="http://schemas.microsoft.com/office/drawing/2014/main" id="{3A274919-814F-BC41-DD07-D05EDF0A53D7}"/>
              </a:ext>
            </a:extLst>
          </p:cNvPr>
          <p:cNvCxnSpPr>
            <a:stCxn id="2085" idx="6"/>
            <a:endCxn id="2090" idx="2"/>
          </p:cNvCxnSpPr>
          <p:nvPr/>
        </p:nvCxnSpPr>
        <p:spPr>
          <a:xfrm>
            <a:off x="7401159" y="2591022"/>
            <a:ext cx="637568" cy="171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Conector recto de flecha 2100">
            <a:extLst>
              <a:ext uri="{FF2B5EF4-FFF2-40B4-BE49-F238E27FC236}">
                <a16:creationId xmlns:a16="http://schemas.microsoft.com/office/drawing/2014/main" id="{45B16C24-E373-A990-9114-2133A2F71F41}"/>
              </a:ext>
            </a:extLst>
          </p:cNvPr>
          <p:cNvCxnSpPr>
            <a:cxnSpLocks/>
          </p:cNvCxnSpPr>
          <p:nvPr/>
        </p:nvCxnSpPr>
        <p:spPr>
          <a:xfrm flipV="1">
            <a:off x="7394254" y="2372359"/>
            <a:ext cx="705245" cy="920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2" name="Conector recto de flecha 2101">
            <a:extLst>
              <a:ext uri="{FF2B5EF4-FFF2-40B4-BE49-F238E27FC236}">
                <a16:creationId xmlns:a16="http://schemas.microsoft.com/office/drawing/2014/main" id="{CCBAAF37-F06A-55ED-6635-5702DDD43781}"/>
              </a:ext>
            </a:extLst>
          </p:cNvPr>
          <p:cNvCxnSpPr>
            <a:stCxn id="2086" idx="6"/>
            <a:endCxn id="2088" idx="2"/>
          </p:cNvCxnSpPr>
          <p:nvPr/>
        </p:nvCxnSpPr>
        <p:spPr>
          <a:xfrm flipV="1">
            <a:off x="7401158" y="2844771"/>
            <a:ext cx="637570" cy="438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3" name="Conector recto de flecha 2102">
            <a:extLst>
              <a:ext uri="{FF2B5EF4-FFF2-40B4-BE49-F238E27FC236}">
                <a16:creationId xmlns:a16="http://schemas.microsoft.com/office/drawing/2014/main" id="{866B9E5C-72AF-DF16-2E4C-E5070B503FE5}"/>
              </a:ext>
            </a:extLst>
          </p:cNvPr>
          <p:cNvCxnSpPr>
            <a:stCxn id="2086" idx="6"/>
            <a:endCxn id="2089" idx="2"/>
          </p:cNvCxnSpPr>
          <p:nvPr/>
        </p:nvCxnSpPr>
        <p:spPr>
          <a:xfrm>
            <a:off x="7401158" y="3283668"/>
            <a:ext cx="637570" cy="309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4" name="Conector recto de flecha 2103">
            <a:extLst>
              <a:ext uri="{FF2B5EF4-FFF2-40B4-BE49-F238E27FC236}">
                <a16:creationId xmlns:a16="http://schemas.microsoft.com/office/drawing/2014/main" id="{A41B69A7-F244-76B4-F865-B2DC86653BD4}"/>
              </a:ext>
            </a:extLst>
          </p:cNvPr>
          <p:cNvCxnSpPr>
            <a:stCxn id="2086" idx="6"/>
            <a:endCxn id="2090" idx="2"/>
          </p:cNvCxnSpPr>
          <p:nvPr/>
        </p:nvCxnSpPr>
        <p:spPr>
          <a:xfrm>
            <a:off x="7401158" y="3283668"/>
            <a:ext cx="637569" cy="102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5" name="Conector recto de flecha 2104">
            <a:extLst>
              <a:ext uri="{FF2B5EF4-FFF2-40B4-BE49-F238E27FC236}">
                <a16:creationId xmlns:a16="http://schemas.microsoft.com/office/drawing/2014/main" id="{73FC722D-0EE8-B659-B1EA-3CCB46C0341D}"/>
              </a:ext>
            </a:extLst>
          </p:cNvPr>
          <p:cNvCxnSpPr>
            <a:stCxn id="2087" idx="6"/>
            <a:endCxn id="2091" idx="3"/>
          </p:cNvCxnSpPr>
          <p:nvPr/>
        </p:nvCxnSpPr>
        <p:spPr>
          <a:xfrm flipV="1">
            <a:off x="7387352" y="2362815"/>
            <a:ext cx="719051" cy="1670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6" name="Conector recto de flecha 2105">
            <a:extLst>
              <a:ext uri="{FF2B5EF4-FFF2-40B4-BE49-F238E27FC236}">
                <a16:creationId xmlns:a16="http://schemas.microsoft.com/office/drawing/2014/main" id="{CB37D7B5-F345-2056-F861-8246F4E54B81}"/>
              </a:ext>
            </a:extLst>
          </p:cNvPr>
          <p:cNvCxnSpPr>
            <a:stCxn id="2087" idx="6"/>
            <a:endCxn id="2088" idx="3"/>
          </p:cNvCxnSpPr>
          <p:nvPr/>
        </p:nvCxnSpPr>
        <p:spPr>
          <a:xfrm flipV="1">
            <a:off x="7387352" y="3002976"/>
            <a:ext cx="719051" cy="1030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Conector recto de flecha 2106">
            <a:extLst>
              <a:ext uri="{FF2B5EF4-FFF2-40B4-BE49-F238E27FC236}">
                <a16:creationId xmlns:a16="http://schemas.microsoft.com/office/drawing/2014/main" id="{889427CE-1722-F6A1-AC04-4A5826FF8746}"/>
              </a:ext>
            </a:extLst>
          </p:cNvPr>
          <p:cNvCxnSpPr>
            <a:stCxn id="2087" idx="6"/>
            <a:endCxn id="2089" idx="2"/>
          </p:cNvCxnSpPr>
          <p:nvPr/>
        </p:nvCxnSpPr>
        <p:spPr>
          <a:xfrm flipV="1">
            <a:off x="7387352" y="3593148"/>
            <a:ext cx="651376" cy="440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8" name="Conector recto de flecha 2107">
            <a:extLst>
              <a:ext uri="{FF2B5EF4-FFF2-40B4-BE49-F238E27FC236}">
                <a16:creationId xmlns:a16="http://schemas.microsoft.com/office/drawing/2014/main" id="{D99A2E94-DA46-F9C3-49BA-D84D8377443F}"/>
              </a:ext>
            </a:extLst>
          </p:cNvPr>
          <p:cNvCxnSpPr>
            <a:stCxn id="2087" idx="6"/>
            <a:endCxn id="2090" idx="2"/>
          </p:cNvCxnSpPr>
          <p:nvPr/>
        </p:nvCxnSpPr>
        <p:spPr>
          <a:xfrm>
            <a:off x="7387352" y="4033429"/>
            <a:ext cx="651375" cy="270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9" name="Conector recto de flecha 2108">
            <a:extLst>
              <a:ext uri="{FF2B5EF4-FFF2-40B4-BE49-F238E27FC236}">
                <a16:creationId xmlns:a16="http://schemas.microsoft.com/office/drawing/2014/main" id="{9EB1BED8-E975-945C-ED0B-534287917C75}"/>
              </a:ext>
            </a:extLst>
          </p:cNvPr>
          <p:cNvCxnSpPr>
            <a:stCxn id="2091" idx="6"/>
            <a:endCxn id="2095" idx="2"/>
          </p:cNvCxnSpPr>
          <p:nvPr/>
        </p:nvCxnSpPr>
        <p:spPr>
          <a:xfrm>
            <a:off x="8500839" y="2204610"/>
            <a:ext cx="674148" cy="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Conector recto de flecha 2109">
            <a:extLst>
              <a:ext uri="{FF2B5EF4-FFF2-40B4-BE49-F238E27FC236}">
                <a16:creationId xmlns:a16="http://schemas.microsoft.com/office/drawing/2014/main" id="{4E3C5166-5238-21E3-B9EF-4F1F7DB54EE0}"/>
              </a:ext>
            </a:extLst>
          </p:cNvPr>
          <p:cNvCxnSpPr>
            <a:stCxn id="2091" idx="6"/>
            <a:endCxn id="2092" idx="2"/>
          </p:cNvCxnSpPr>
          <p:nvPr/>
        </p:nvCxnSpPr>
        <p:spPr>
          <a:xfrm>
            <a:off x="8500839" y="2204610"/>
            <a:ext cx="674148" cy="646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1" name="Conector recto de flecha 2110">
            <a:extLst>
              <a:ext uri="{FF2B5EF4-FFF2-40B4-BE49-F238E27FC236}">
                <a16:creationId xmlns:a16="http://schemas.microsoft.com/office/drawing/2014/main" id="{7A369B71-B8CB-1D72-386E-893514359C7C}"/>
              </a:ext>
            </a:extLst>
          </p:cNvPr>
          <p:cNvCxnSpPr>
            <a:stCxn id="2091" idx="6"/>
            <a:endCxn id="2093" idx="2"/>
          </p:cNvCxnSpPr>
          <p:nvPr/>
        </p:nvCxnSpPr>
        <p:spPr>
          <a:xfrm>
            <a:off x="8500839" y="2204610"/>
            <a:ext cx="674148" cy="1395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2" name="Conector recto de flecha 2111">
            <a:extLst>
              <a:ext uri="{FF2B5EF4-FFF2-40B4-BE49-F238E27FC236}">
                <a16:creationId xmlns:a16="http://schemas.microsoft.com/office/drawing/2014/main" id="{612116F3-FB40-6F76-E3C9-4215EF5610E7}"/>
              </a:ext>
            </a:extLst>
          </p:cNvPr>
          <p:cNvCxnSpPr>
            <a:stCxn id="2091" idx="6"/>
            <a:endCxn id="2094" idx="2"/>
          </p:cNvCxnSpPr>
          <p:nvPr/>
        </p:nvCxnSpPr>
        <p:spPr>
          <a:xfrm>
            <a:off x="8500839" y="2204610"/>
            <a:ext cx="674147" cy="2106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3" name="Conector recto de flecha 2112">
            <a:extLst>
              <a:ext uri="{FF2B5EF4-FFF2-40B4-BE49-F238E27FC236}">
                <a16:creationId xmlns:a16="http://schemas.microsoft.com/office/drawing/2014/main" id="{F22B110D-61A8-1EE9-9F74-1E345E1542E4}"/>
              </a:ext>
            </a:extLst>
          </p:cNvPr>
          <p:cNvCxnSpPr>
            <a:cxnSpLocks/>
            <a:stCxn id="2088" idx="6"/>
            <a:endCxn id="2095" idx="2"/>
          </p:cNvCxnSpPr>
          <p:nvPr/>
        </p:nvCxnSpPr>
        <p:spPr>
          <a:xfrm flipV="1">
            <a:off x="8500839" y="2211094"/>
            <a:ext cx="674148" cy="633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4" name="Conector recto de flecha 2113">
            <a:extLst>
              <a:ext uri="{FF2B5EF4-FFF2-40B4-BE49-F238E27FC236}">
                <a16:creationId xmlns:a16="http://schemas.microsoft.com/office/drawing/2014/main" id="{DDA7B172-21AB-A172-2BD2-7CD3D0D686A6}"/>
              </a:ext>
            </a:extLst>
          </p:cNvPr>
          <p:cNvCxnSpPr>
            <a:cxnSpLocks/>
            <a:stCxn id="2088" idx="6"/>
            <a:endCxn id="2092" idx="2"/>
          </p:cNvCxnSpPr>
          <p:nvPr/>
        </p:nvCxnSpPr>
        <p:spPr>
          <a:xfrm>
            <a:off x="8500839" y="2844771"/>
            <a:ext cx="674148" cy="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5" name="Conector recto de flecha 2114">
            <a:extLst>
              <a:ext uri="{FF2B5EF4-FFF2-40B4-BE49-F238E27FC236}">
                <a16:creationId xmlns:a16="http://schemas.microsoft.com/office/drawing/2014/main" id="{2507835D-90F1-65E1-401B-D0B67FB004D8}"/>
              </a:ext>
            </a:extLst>
          </p:cNvPr>
          <p:cNvCxnSpPr>
            <a:cxnSpLocks/>
            <a:stCxn id="2088" idx="6"/>
            <a:endCxn id="2093" idx="1"/>
          </p:cNvCxnSpPr>
          <p:nvPr/>
        </p:nvCxnSpPr>
        <p:spPr>
          <a:xfrm>
            <a:off x="8500839" y="2844771"/>
            <a:ext cx="741823" cy="596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6" name="Conector recto de flecha 2115">
            <a:extLst>
              <a:ext uri="{FF2B5EF4-FFF2-40B4-BE49-F238E27FC236}">
                <a16:creationId xmlns:a16="http://schemas.microsoft.com/office/drawing/2014/main" id="{7AF868C1-CD15-BC26-4A7E-6E8232B14C46}"/>
              </a:ext>
            </a:extLst>
          </p:cNvPr>
          <p:cNvCxnSpPr>
            <a:cxnSpLocks/>
            <a:stCxn id="2088" idx="6"/>
            <a:endCxn id="2094" idx="2"/>
          </p:cNvCxnSpPr>
          <p:nvPr/>
        </p:nvCxnSpPr>
        <p:spPr>
          <a:xfrm>
            <a:off x="8500839" y="2844771"/>
            <a:ext cx="674147" cy="14659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7" name="Conector recto de flecha 2116">
            <a:extLst>
              <a:ext uri="{FF2B5EF4-FFF2-40B4-BE49-F238E27FC236}">
                <a16:creationId xmlns:a16="http://schemas.microsoft.com/office/drawing/2014/main" id="{23A0B3B3-AC97-A444-8532-87788958B98B}"/>
              </a:ext>
            </a:extLst>
          </p:cNvPr>
          <p:cNvCxnSpPr>
            <a:cxnSpLocks/>
            <a:stCxn id="2089" idx="6"/>
            <a:endCxn id="2095" idx="2"/>
          </p:cNvCxnSpPr>
          <p:nvPr/>
        </p:nvCxnSpPr>
        <p:spPr>
          <a:xfrm flipV="1">
            <a:off x="8500839" y="2211094"/>
            <a:ext cx="674148" cy="138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8" name="Conector recto de flecha 2117">
            <a:extLst>
              <a:ext uri="{FF2B5EF4-FFF2-40B4-BE49-F238E27FC236}">
                <a16:creationId xmlns:a16="http://schemas.microsoft.com/office/drawing/2014/main" id="{BCCAC988-6C4B-33B3-5A31-B75BFE3B75CD}"/>
              </a:ext>
            </a:extLst>
          </p:cNvPr>
          <p:cNvCxnSpPr>
            <a:stCxn id="2089" idx="6"/>
            <a:endCxn id="2092" idx="2"/>
          </p:cNvCxnSpPr>
          <p:nvPr/>
        </p:nvCxnSpPr>
        <p:spPr>
          <a:xfrm flipV="1">
            <a:off x="8500839" y="2851255"/>
            <a:ext cx="674148" cy="7418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9" name="Conector recto de flecha 2118">
            <a:extLst>
              <a:ext uri="{FF2B5EF4-FFF2-40B4-BE49-F238E27FC236}">
                <a16:creationId xmlns:a16="http://schemas.microsoft.com/office/drawing/2014/main" id="{922DDC70-939A-999F-C0F6-5D41414E6251}"/>
              </a:ext>
            </a:extLst>
          </p:cNvPr>
          <p:cNvCxnSpPr>
            <a:stCxn id="2089" idx="6"/>
            <a:endCxn id="2093" idx="2"/>
          </p:cNvCxnSpPr>
          <p:nvPr/>
        </p:nvCxnSpPr>
        <p:spPr>
          <a:xfrm>
            <a:off x="8500839" y="3593148"/>
            <a:ext cx="674148" cy="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" name="Conector recto de flecha 2119">
            <a:extLst>
              <a:ext uri="{FF2B5EF4-FFF2-40B4-BE49-F238E27FC236}">
                <a16:creationId xmlns:a16="http://schemas.microsoft.com/office/drawing/2014/main" id="{75C020DE-F523-5FC8-A61D-AF7AB8EE1562}"/>
              </a:ext>
            </a:extLst>
          </p:cNvPr>
          <p:cNvCxnSpPr>
            <a:stCxn id="2089" idx="6"/>
            <a:endCxn id="2094" idx="2"/>
          </p:cNvCxnSpPr>
          <p:nvPr/>
        </p:nvCxnSpPr>
        <p:spPr>
          <a:xfrm>
            <a:off x="8500839" y="3593148"/>
            <a:ext cx="674147" cy="7175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1" name="Conector recto de flecha 2120">
            <a:extLst>
              <a:ext uri="{FF2B5EF4-FFF2-40B4-BE49-F238E27FC236}">
                <a16:creationId xmlns:a16="http://schemas.microsoft.com/office/drawing/2014/main" id="{939B2C4E-FC5A-7245-3FA7-3AC2F20BE95D}"/>
              </a:ext>
            </a:extLst>
          </p:cNvPr>
          <p:cNvCxnSpPr>
            <a:stCxn id="2090" idx="6"/>
            <a:endCxn id="2095" idx="2"/>
          </p:cNvCxnSpPr>
          <p:nvPr/>
        </p:nvCxnSpPr>
        <p:spPr>
          <a:xfrm flipV="1">
            <a:off x="8500838" y="2211094"/>
            <a:ext cx="674149" cy="2093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Conector recto de flecha 2121">
            <a:extLst>
              <a:ext uri="{FF2B5EF4-FFF2-40B4-BE49-F238E27FC236}">
                <a16:creationId xmlns:a16="http://schemas.microsoft.com/office/drawing/2014/main" id="{FE72B97A-92FF-FB78-0911-12915BF34005}"/>
              </a:ext>
            </a:extLst>
          </p:cNvPr>
          <p:cNvCxnSpPr>
            <a:stCxn id="2090" idx="6"/>
            <a:endCxn id="2092" idx="2"/>
          </p:cNvCxnSpPr>
          <p:nvPr/>
        </p:nvCxnSpPr>
        <p:spPr>
          <a:xfrm flipV="1">
            <a:off x="8500838" y="2851255"/>
            <a:ext cx="674149" cy="145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" name="Conector recto de flecha 2122">
            <a:extLst>
              <a:ext uri="{FF2B5EF4-FFF2-40B4-BE49-F238E27FC236}">
                <a16:creationId xmlns:a16="http://schemas.microsoft.com/office/drawing/2014/main" id="{B0E3ED43-0574-F753-637E-A6ECA3D2ABD4}"/>
              </a:ext>
            </a:extLst>
          </p:cNvPr>
          <p:cNvCxnSpPr>
            <a:stCxn id="2090" idx="6"/>
            <a:endCxn id="2093" idx="2"/>
          </p:cNvCxnSpPr>
          <p:nvPr/>
        </p:nvCxnSpPr>
        <p:spPr>
          <a:xfrm flipV="1">
            <a:off x="8500838" y="3599632"/>
            <a:ext cx="674149" cy="7045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" name="Conector recto de flecha 2123">
            <a:extLst>
              <a:ext uri="{FF2B5EF4-FFF2-40B4-BE49-F238E27FC236}">
                <a16:creationId xmlns:a16="http://schemas.microsoft.com/office/drawing/2014/main" id="{9095B688-3B4B-DA21-0867-B7E6A9E2A8D0}"/>
              </a:ext>
            </a:extLst>
          </p:cNvPr>
          <p:cNvCxnSpPr>
            <a:stCxn id="2090" idx="6"/>
            <a:endCxn id="2094" idx="2"/>
          </p:cNvCxnSpPr>
          <p:nvPr/>
        </p:nvCxnSpPr>
        <p:spPr>
          <a:xfrm>
            <a:off x="8500838" y="4304222"/>
            <a:ext cx="674148" cy="6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5" name="Conector recto de flecha 2124">
            <a:extLst>
              <a:ext uri="{FF2B5EF4-FFF2-40B4-BE49-F238E27FC236}">
                <a16:creationId xmlns:a16="http://schemas.microsoft.com/office/drawing/2014/main" id="{4FA5EF59-98F9-4F43-D315-F6E0FB221F9B}"/>
              </a:ext>
            </a:extLst>
          </p:cNvPr>
          <p:cNvCxnSpPr>
            <a:cxnSpLocks/>
            <a:stCxn id="2095" idx="5"/>
            <a:endCxn id="2096" idx="1"/>
          </p:cNvCxnSpPr>
          <p:nvPr/>
        </p:nvCxnSpPr>
        <p:spPr>
          <a:xfrm>
            <a:off x="9569423" y="2369299"/>
            <a:ext cx="667926" cy="78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6" name="Conector recto de flecha 2125">
            <a:extLst>
              <a:ext uri="{FF2B5EF4-FFF2-40B4-BE49-F238E27FC236}">
                <a16:creationId xmlns:a16="http://schemas.microsoft.com/office/drawing/2014/main" id="{DBC324EF-91EE-6E03-3A12-8CA6FB287AE9}"/>
              </a:ext>
            </a:extLst>
          </p:cNvPr>
          <p:cNvCxnSpPr>
            <a:stCxn id="2092" idx="6"/>
            <a:endCxn id="2096" idx="1"/>
          </p:cNvCxnSpPr>
          <p:nvPr/>
        </p:nvCxnSpPr>
        <p:spPr>
          <a:xfrm>
            <a:off x="9637098" y="2851255"/>
            <a:ext cx="600251" cy="302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7" name="Conector recto de flecha 2126">
            <a:extLst>
              <a:ext uri="{FF2B5EF4-FFF2-40B4-BE49-F238E27FC236}">
                <a16:creationId xmlns:a16="http://schemas.microsoft.com/office/drawing/2014/main" id="{1DD1BFB0-BC50-E2D3-668F-4DD983CFA285}"/>
              </a:ext>
            </a:extLst>
          </p:cNvPr>
          <p:cNvCxnSpPr>
            <a:stCxn id="2093" idx="6"/>
            <a:endCxn id="2096" idx="2"/>
          </p:cNvCxnSpPr>
          <p:nvPr/>
        </p:nvCxnSpPr>
        <p:spPr>
          <a:xfrm flipV="1">
            <a:off x="9637098" y="3312171"/>
            <a:ext cx="532576" cy="287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Conector recto de flecha 2127">
            <a:extLst>
              <a:ext uri="{FF2B5EF4-FFF2-40B4-BE49-F238E27FC236}">
                <a16:creationId xmlns:a16="http://schemas.microsoft.com/office/drawing/2014/main" id="{C8EC142A-D2F1-098A-2DA6-FAA2407528D4}"/>
              </a:ext>
            </a:extLst>
          </p:cNvPr>
          <p:cNvCxnSpPr>
            <a:stCxn id="2094" idx="6"/>
            <a:endCxn id="2096" idx="2"/>
          </p:cNvCxnSpPr>
          <p:nvPr/>
        </p:nvCxnSpPr>
        <p:spPr>
          <a:xfrm flipV="1">
            <a:off x="9637097" y="3312171"/>
            <a:ext cx="532577" cy="998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9" name="Conector recto 2128">
            <a:extLst>
              <a:ext uri="{FF2B5EF4-FFF2-40B4-BE49-F238E27FC236}">
                <a16:creationId xmlns:a16="http://schemas.microsoft.com/office/drawing/2014/main" id="{7A6EB811-554A-D693-5FA4-07BE0DCB9410}"/>
              </a:ext>
            </a:extLst>
          </p:cNvPr>
          <p:cNvCxnSpPr/>
          <p:nvPr/>
        </p:nvCxnSpPr>
        <p:spPr>
          <a:xfrm>
            <a:off x="9903385" y="1953758"/>
            <a:ext cx="0" cy="2692931"/>
          </a:xfrm>
          <a:prstGeom prst="line">
            <a:avLst/>
          </a:prstGeom>
          <a:ln w="19050" cap="flat" cmpd="sng" algn="ctr">
            <a:solidFill>
              <a:schemeClr val="accent4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30" name="Conector recto 2129">
            <a:extLst>
              <a:ext uri="{FF2B5EF4-FFF2-40B4-BE49-F238E27FC236}">
                <a16:creationId xmlns:a16="http://schemas.microsoft.com/office/drawing/2014/main" id="{B8B85005-5849-B346-191E-B87175347858}"/>
              </a:ext>
            </a:extLst>
          </p:cNvPr>
          <p:cNvCxnSpPr/>
          <p:nvPr/>
        </p:nvCxnSpPr>
        <p:spPr>
          <a:xfrm>
            <a:off x="8832259" y="1953759"/>
            <a:ext cx="0" cy="2692931"/>
          </a:xfrm>
          <a:prstGeom prst="line">
            <a:avLst/>
          </a:prstGeom>
          <a:ln w="19050" cap="flat" cmpd="sng" algn="ctr">
            <a:solidFill>
              <a:schemeClr val="accent4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31" name="Conector recto 2130">
            <a:extLst>
              <a:ext uri="{FF2B5EF4-FFF2-40B4-BE49-F238E27FC236}">
                <a16:creationId xmlns:a16="http://schemas.microsoft.com/office/drawing/2014/main" id="{235A41C2-DCE9-D549-4FA8-637DA6E317B6}"/>
              </a:ext>
            </a:extLst>
          </p:cNvPr>
          <p:cNvCxnSpPr/>
          <p:nvPr/>
        </p:nvCxnSpPr>
        <p:spPr>
          <a:xfrm>
            <a:off x="7779877" y="1953757"/>
            <a:ext cx="0" cy="2692931"/>
          </a:xfrm>
          <a:prstGeom prst="line">
            <a:avLst/>
          </a:prstGeom>
          <a:ln w="19050" cap="flat" cmpd="sng" algn="ctr">
            <a:solidFill>
              <a:schemeClr val="accent4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33" name="Conector: curvado 2132">
            <a:extLst>
              <a:ext uri="{FF2B5EF4-FFF2-40B4-BE49-F238E27FC236}">
                <a16:creationId xmlns:a16="http://schemas.microsoft.com/office/drawing/2014/main" id="{25E34A9F-7D4E-4309-AD84-31A8EF62EBF9}"/>
              </a:ext>
            </a:extLst>
          </p:cNvPr>
          <p:cNvCxnSpPr>
            <a:stCxn id="2095" idx="6"/>
            <a:endCxn id="2091" idx="7"/>
          </p:cNvCxnSpPr>
          <p:nvPr/>
        </p:nvCxnSpPr>
        <p:spPr>
          <a:xfrm flipH="1" flipV="1">
            <a:off x="8433164" y="2046404"/>
            <a:ext cx="1203934" cy="164690"/>
          </a:xfrm>
          <a:prstGeom prst="curvedConnector4">
            <a:avLst>
              <a:gd name="adj1" fmla="val -18988"/>
              <a:gd name="adj2" fmla="val 278597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5" name="Conector: curvado 2134">
            <a:extLst>
              <a:ext uri="{FF2B5EF4-FFF2-40B4-BE49-F238E27FC236}">
                <a16:creationId xmlns:a16="http://schemas.microsoft.com/office/drawing/2014/main" id="{A0FF456F-5F08-8A8B-3953-A00B128ECE18}"/>
              </a:ext>
            </a:extLst>
          </p:cNvPr>
          <p:cNvCxnSpPr>
            <a:stCxn id="2094" idx="6"/>
            <a:endCxn id="2090" idx="4"/>
          </p:cNvCxnSpPr>
          <p:nvPr/>
        </p:nvCxnSpPr>
        <p:spPr>
          <a:xfrm flipH="1">
            <a:off x="8269783" y="4310706"/>
            <a:ext cx="1367314" cy="217252"/>
          </a:xfrm>
          <a:prstGeom prst="curvedConnector4">
            <a:avLst>
              <a:gd name="adj1" fmla="val -16719"/>
              <a:gd name="adj2" fmla="val 208208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7" name="Arco 2136">
            <a:extLst>
              <a:ext uri="{FF2B5EF4-FFF2-40B4-BE49-F238E27FC236}">
                <a16:creationId xmlns:a16="http://schemas.microsoft.com/office/drawing/2014/main" id="{43F138AE-62BB-FC09-138E-CEB55F73643A}"/>
              </a:ext>
            </a:extLst>
          </p:cNvPr>
          <p:cNvSpPr/>
          <p:nvPr/>
        </p:nvSpPr>
        <p:spPr>
          <a:xfrm>
            <a:off x="7900192" y="1837051"/>
            <a:ext cx="462111" cy="319913"/>
          </a:xfrm>
          <a:prstGeom prst="arc">
            <a:avLst>
              <a:gd name="adj1" fmla="val 7157692"/>
              <a:gd name="adj2" fmla="val 0"/>
            </a:avLst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139" name="Conector recto de flecha 2138">
            <a:extLst>
              <a:ext uri="{FF2B5EF4-FFF2-40B4-BE49-F238E27FC236}">
                <a16:creationId xmlns:a16="http://schemas.microsoft.com/office/drawing/2014/main" id="{7C98084F-EE2B-1896-7892-86BCA8F1CB94}"/>
              </a:ext>
            </a:extLst>
          </p:cNvPr>
          <p:cNvCxnSpPr>
            <a:cxnSpLocks/>
            <a:stCxn id="2090" idx="0"/>
            <a:endCxn id="2089" idx="4"/>
          </p:cNvCxnSpPr>
          <p:nvPr/>
        </p:nvCxnSpPr>
        <p:spPr>
          <a:xfrm flipV="1">
            <a:off x="8269783" y="3816884"/>
            <a:ext cx="1" cy="263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18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EEFC55-36F3-4AEA-BFFE-198E620D6D35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29821" y="715911"/>
            <a:ext cx="586553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CA" altLang="es-CO" sz="3600" b="1" dirty="0" err="1">
                <a:solidFill>
                  <a:schemeClr val="accent4">
                    <a:lumMod val="50000"/>
                  </a:schemeClr>
                </a:solidFill>
              </a:rPr>
              <a:t>Funciones</a:t>
            </a:r>
            <a:r>
              <a:rPr lang="en-CA" altLang="es-CO" sz="3600" b="1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CA" altLang="es-CO" sz="3600" b="1" dirty="0" err="1">
                <a:solidFill>
                  <a:schemeClr val="accent4">
                    <a:lumMod val="50000"/>
                  </a:schemeClr>
                </a:solidFill>
              </a:rPr>
              <a:t>activación</a:t>
            </a:r>
            <a:endParaRPr lang="en-CA" alt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970A0F-6EE8-F1DD-23BC-9ED9FF246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941" y="991993"/>
            <a:ext cx="2715786" cy="23214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9714B1C-5BBF-DF50-BF0E-DCBC196E6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83" y="2375242"/>
            <a:ext cx="2614177" cy="216654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1A38545-28D6-2344-A3B0-50EDDD4D7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059" y="2238902"/>
            <a:ext cx="2614177" cy="232769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829B444-B8C7-C81A-E5B6-8EE28A893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378" y="3825368"/>
            <a:ext cx="2207841" cy="205013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425054F-3175-F8D6-1C97-07700323DF08}"/>
              </a:ext>
            </a:extLst>
          </p:cNvPr>
          <p:cNvSpPr txBox="1"/>
          <p:nvPr/>
        </p:nvSpPr>
        <p:spPr>
          <a:xfrm>
            <a:off x="9575113" y="4540100"/>
            <a:ext cx="1674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Lineal</a:t>
            </a:r>
            <a:endParaRPr lang="es-CO" sz="2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E4EBF9-F338-20B1-7FA1-70FF038866EA}"/>
              </a:ext>
            </a:extLst>
          </p:cNvPr>
          <p:cNvSpPr txBox="1"/>
          <p:nvPr/>
        </p:nvSpPr>
        <p:spPr>
          <a:xfrm>
            <a:off x="9575113" y="1027914"/>
            <a:ext cx="2079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Función</a:t>
            </a:r>
          </a:p>
          <a:p>
            <a:r>
              <a:rPr lang="es-ES" sz="2400" dirty="0"/>
              <a:t> signo</a:t>
            </a:r>
            <a:endParaRPr lang="es-CO" sz="2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23C75D4-B5B0-4FB4-6FB3-19DA47869EC3}"/>
              </a:ext>
            </a:extLst>
          </p:cNvPr>
          <p:cNvSpPr txBox="1"/>
          <p:nvPr/>
        </p:nvSpPr>
        <p:spPr>
          <a:xfrm>
            <a:off x="904131" y="4726045"/>
            <a:ext cx="378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Funciones escalón</a:t>
            </a:r>
            <a:endParaRPr lang="es-CO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1CB8F46-1094-3C0D-0D62-627D827E9063}"/>
                  </a:ext>
                </a:extLst>
              </p:cNvPr>
              <p:cNvSpPr txBox="1"/>
              <p:nvPr/>
            </p:nvSpPr>
            <p:spPr>
              <a:xfrm>
                <a:off x="9645432" y="4893471"/>
                <a:ext cx="8002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1CB8F46-1094-3C0D-0D62-627D827E9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5432" y="4893471"/>
                <a:ext cx="800219" cy="369332"/>
              </a:xfrm>
              <a:prstGeom prst="rect">
                <a:avLst/>
              </a:prstGeom>
              <a:blipFill>
                <a:blip r:embed="rId6"/>
                <a:stretch>
                  <a:fillRect l="-9091" r="-3788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D709A257-6505-786E-6D08-5BD46AE67E0B}"/>
                  </a:ext>
                </a:extLst>
              </p:cNvPr>
              <p:cNvSpPr txBox="1"/>
              <p:nvPr/>
            </p:nvSpPr>
            <p:spPr>
              <a:xfrm>
                <a:off x="8981528" y="1865384"/>
                <a:ext cx="2862002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D709A257-6505-786E-6D08-5BD46AE67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528" y="1865384"/>
                <a:ext cx="2862002" cy="1367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6A18A80-6106-DE9A-6F47-6E7940CA52B3}"/>
                  </a:ext>
                </a:extLst>
              </p:cNvPr>
              <p:cNvSpPr txBox="1"/>
              <p:nvPr/>
            </p:nvSpPr>
            <p:spPr>
              <a:xfrm>
                <a:off x="370968" y="5341189"/>
                <a:ext cx="2614177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6A18A80-6106-DE9A-6F47-6E7940CA5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68" y="5341189"/>
                <a:ext cx="2614177" cy="8238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DE25FE7A-DD32-4179-6AD7-B6D4CEA7D2BA}"/>
                  </a:ext>
                </a:extLst>
              </p:cNvPr>
              <p:cNvSpPr txBox="1"/>
              <p:nvPr/>
            </p:nvSpPr>
            <p:spPr>
              <a:xfrm>
                <a:off x="3283192" y="5341189"/>
                <a:ext cx="2843407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DE25FE7A-DD32-4179-6AD7-B6D4CEA7D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192" y="5341189"/>
                <a:ext cx="2843407" cy="8238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85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4FEAC2-5428-1399-8D88-7FD3C68F6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89" y="1595181"/>
            <a:ext cx="3445209" cy="207947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445F65B-8458-73AD-CE52-E448A9B50DA8}"/>
              </a:ext>
            </a:extLst>
          </p:cNvPr>
          <p:cNvSpPr txBox="1"/>
          <p:nvPr/>
        </p:nvSpPr>
        <p:spPr>
          <a:xfrm>
            <a:off x="2126673" y="1235889"/>
            <a:ext cx="317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/>
              <a:t>Tanh</a:t>
            </a:r>
            <a:endParaRPr lang="es-CO" sz="2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3615875-72B9-F501-1524-A37E0F2AE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28" y="4295921"/>
            <a:ext cx="3637170" cy="207947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3FE0DEC-5622-8F0B-CA15-6FFF462AA50E}"/>
              </a:ext>
            </a:extLst>
          </p:cNvPr>
          <p:cNvSpPr txBox="1"/>
          <p:nvPr/>
        </p:nvSpPr>
        <p:spPr>
          <a:xfrm>
            <a:off x="1768764" y="3967022"/>
            <a:ext cx="317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Sigmoidea</a:t>
            </a:r>
            <a:endParaRPr lang="es-CO" sz="2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5E61F1C-0200-84A8-5344-0777E57B7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094" y="2426936"/>
            <a:ext cx="4322592" cy="218885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70BA45B-07F1-6537-FC8E-336BB930B129}"/>
              </a:ext>
            </a:extLst>
          </p:cNvPr>
          <p:cNvSpPr txBox="1"/>
          <p:nvPr/>
        </p:nvSpPr>
        <p:spPr>
          <a:xfrm>
            <a:off x="8442036" y="1965271"/>
            <a:ext cx="317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/>
              <a:t>Relu</a:t>
            </a:r>
            <a:endParaRPr lang="es-CO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3023D6F-2F48-469A-53F4-705F8223AADC}"/>
                  </a:ext>
                </a:extLst>
              </p:cNvPr>
              <p:cNvSpPr txBox="1"/>
              <p:nvPr/>
            </p:nvSpPr>
            <p:spPr>
              <a:xfrm>
                <a:off x="3997382" y="2711351"/>
                <a:ext cx="1794402" cy="7149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3023D6F-2F48-469A-53F4-705F8223A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382" y="2711351"/>
                <a:ext cx="1794402" cy="7149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6A25CDC-AB92-7298-982E-9FEB5B0B1B26}"/>
                  </a:ext>
                </a:extLst>
              </p:cNvPr>
              <p:cNvSpPr txBox="1"/>
              <p:nvPr/>
            </p:nvSpPr>
            <p:spPr>
              <a:xfrm>
                <a:off x="4168002" y="5002872"/>
                <a:ext cx="1717778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6A25CDC-AB92-7298-982E-9FEB5B0B1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002" y="5002872"/>
                <a:ext cx="1717778" cy="7000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EC1F76B-02E5-C489-0C89-0A204D7AFB7A}"/>
                  </a:ext>
                </a:extLst>
              </p:cNvPr>
              <p:cNvSpPr txBox="1"/>
              <p:nvPr/>
            </p:nvSpPr>
            <p:spPr>
              <a:xfrm>
                <a:off x="7898485" y="4615790"/>
                <a:ext cx="18966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ES" sz="24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⁡(0,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EC1F76B-02E5-C489-0C89-0A204D7AF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485" y="4615790"/>
                <a:ext cx="1896673" cy="369332"/>
              </a:xfrm>
              <a:prstGeom prst="rect">
                <a:avLst/>
              </a:prstGeom>
              <a:blipFill>
                <a:blip r:embed="rId7"/>
                <a:stretch>
                  <a:fillRect l="-3537" r="-5145" b="-344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B29CFAE5-74FC-9D4E-C9FC-5B61EE48130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639191" y="354243"/>
            <a:ext cx="586553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CA" altLang="es-CO" sz="3600" b="1" dirty="0" err="1">
                <a:solidFill>
                  <a:schemeClr val="accent4">
                    <a:lumMod val="50000"/>
                  </a:schemeClr>
                </a:solidFill>
              </a:rPr>
              <a:t>Funciones</a:t>
            </a:r>
            <a:r>
              <a:rPr lang="en-CA" altLang="es-CO" sz="3600" b="1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CA" altLang="es-CO" sz="3600" b="1" dirty="0" err="1">
                <a:solidFill>
                  <a:schemeClr val="accent4">
                    <a:lumMod val="50000"/>
                  </a:schemeClr>
                </a:solidFill>
              </a:rPr>
              <a:t>activación</a:t>
            </a:r>
            <a:endParaRPr lang="en-CA" alt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8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32EFD-0F7B-40E7-9212-7BF9D319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b="1" dirty="0" err="1">
                <a:solidFill>
                  <a:schemeClr val="accent4">
                    <a:lumMod val="50000"/>
                  </a:schemeClr>
                </a:solidFill>
              </a:rPr>
              <a:t>Perceptron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14CE53-2638-4CCF-985B-A8224CAAA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476" y="1864926"/>
            <a:ext cx="5476875" cy="31432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1B3215E-7DF7-4096-A8C5-391936F83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" y="2045550"/>
            <a:ext cx="4303270" cy="235527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511C2A0-B514-4AF8-BD80-06B8F78B4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88" y="5182414"/>
            <a:ext cx="5476875" cy="10287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88F50FC-84D7-4CA9-BFA9-BBC602248F28}"/>
              </a:ext>
            </a:extLst>
          </p:cNvPr>
          <p:cNvSpPr txBox="1"/>
          <p:nvPr/>
        </p:nvSpPr>
        <p:spPr>
          <a:xfrm>
            <a:off x="6196614" y="1464816"/>
            <a:ext cx="4625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Un perceptrón full-</a:t>
            </a:r>
            <a:r>
              <a:rPr lang="es-ES" sz="2000" dirty="0" err="1"/>
              <a:t>connected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75109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ingle Layer Neural Network - Perceptron model on the Iris dataset using  Heaviside step activation function - 2020">
            <a:extLst>
              <a:ext uri="{FF2B5EF4-FFF2-40B4-BE49-F238E27FC236}">
                <a16:creationId xmlns:a16="http://schemas.microsoft.com/office/drawing/2014/main" id="{AAA04BDD-B5F8-B760-1478-F533410B0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25" y="1577326"/>
            <a:ext cx="6017592" cy="250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350148B-3F37-4462-B763-E387F5356431}"/>
                  </a:ext>
                </a:extLst>
              </p:cNvPr>
              <p:cNvSpPr txBox="1"/>
              <p:nvPr/>
            </p:nvSpPr>
            <p:spPr>
              <a:xfrm>
                <a:off x="1246395" y="5084643"/>
                <a:ext cx="5014834" cy="653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O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𝑛𝑒𝑥</m:t>
                          </m:r>
                          <m:sSub>
                            <m:sSubPr>
                              <m:ctrlP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𝑠𝑡𝑒𝑝</m:t>
                              </m:r>
                            </m:sub>
                          </m:s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E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sSub>
                        <m:sSubPr>
                          <m:ctrlP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350148B-3F37-4462-B763-E387F5356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395" y="5084643"/>
                <a:ext cx="5014834" cy="653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53E6B41-1F3D-6C40-ED04-620E4E3625C2}"/>
              </a:ext>
            </a:extLst>
          </p:cNvPr>
          <p:cNvSpPr txBox="1"/>
          <p:nvPr/>
        </p:nvSpPr>
        <p:spPr>
          <a:xfrm>
            <a:off x="1105717" y="4475451"/>
            <a:ext cx="4769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Regla de aprendizaje de Hebb (1949)</a:t>
            </a:r>
            <a:endParaRPr lang="es-CO" sz="2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433A06A-FD06-DEEC-E92C-39AA1BB95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Regla de aprendizaje 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BD974E4-8511-FCEC-D535-B5C925DD1107}"/>
              </a:ext>
            </a:extLst>
          </p:cNvPr>
          <p:cNvSpPr txBox="1"/>
          <p:nvPr/>
        </p:nvSpPr>
        <p:spPr>
          <a:xfrm>
            <a:off x="6822210" y="4635137"/>
            <a:ext cx="48338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Los pesos se van ajustando con el error obtenido por cada ejemplo. Las conexiones que mejoran el resultado del modelo se vuelven más fuertes. (</a:t>
            </a:r>
            <a:r>
              <a:rPr lang="es-ES" sz="2000" dirty="0" err="1"/>
              <a:t>Geron</a:t>
            </a:r>
            <a:r>
              <a:rPr lang="es-ES" sz="2000" dirty="0"/>
              <a:t>, 3ra edición)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567417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C738CB4-5488-4BF4-9872-0FC937DF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Problemas linealmente separables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596C148-7DC0-47FD-9803-E2E5F1243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636" y="1683096"/>
            <a:ext cx="3739645" cy="4231279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DDD988D9-9387-4BA0-87C2-BB5C14899A63}"/>
              </a:ext>
            </a:extLst>
          </p:cNvPr>
          <p:cNvSpPr/>
          <p:nvPr/>
        </p:nvSpPr>
        <p:spPr>
          <a:xfrm>
            <a:off x="7873435" y="2084565"/>
            <a:ext cx="882909" cy="81451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T=1.5</a:t>
            </a:r>
            <a:endParaRPr lang="es-CO" sz="1200" dirty="0">
              <a:solidFill>
                <a:schemeClr val="tx1"/>
              </a:solidFill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6FAEBD6-D48E-4E57-A066-8CACC82D245E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428585" y="2309681"/>
            <a:ext cx="454898" cy="19219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B6D0894-3B48-465B-811E-AFEF694E00BC}"/>
              </a:ext>
            </a:extLst>
          </p:cNvPr>
          <p:cNvCxnSpPr>
            <a:cxnSpLocks/>
          </p:cNvCxnSpPr>
          <p:nvPr/>
        </p:nvCxnSpPr>
        <p:spPr>
          <a:xfrm flipV="1">
            <a:off x="7418146" y="2684264"/>
            <a:ext cx="515577" cy="13075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2EE3F4C-BB4B-4D8B-94C4-04E1790A438D}"/>
              </a:ext>
            </a:extLst>
          </p:cNvPr>
          <p:cNvCxnSpPr>
            <a:cxnSpLocks/>
          </p:cNvCxnSpPr>
          <p:nvPr/>
        </p:nvCxnSpPr>
        <p:spPr>
          <a:xfrm>
            <a:off x="7447191" y="4688450"/>
            <a:ext cx="457486" cy="16360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7D9204B-5790-4ABE-A7EC-725ABF32ED7C}"/>
              </a:ext>
            </a:extLst>
          </p:cNvPr>
          <p:cNvCxnSpPr>
            <a:cxnSpLocks/>
          </p:cNvCxnSpPr>
          <p:nvPr/>
        </p:nvCxnSpPr>
        <p:spPr>
          <a:xfrm flipV="1">
            <a:off x="7526215" y="5104563"/>
            <a:ext cx="407508" cy="29375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D24BEC6-EFE9-4898-993A-BC491B441EF9}"/>
                  </a:ext>
                </a:extLst>
              </p:cNvPr>
              <p:cNvSpPr txBox="1"/>
              <p:nvPr/>
            </p:nvSpPr>
            <p:spPr>
              <a:xfrm>
                <a:off x="6620696" y="2171181"/>
                <a:ext cx="80788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D24BEC6-EFE9-4898-993A-BC491B441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696" y="2171181"/>
                <a:ext cx="807889" cy="276999"/>
              </a:xfrm>
              <a:prstGeom prst="rect">
                <a:avLst/>
              </a:prstGeom>
              <a:blipFill>
                <a:blip r:embed="rId3"/>
                <a:stretch>
                  <a:fillRect r="-3008" b="-1521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0AD4217A-D003-4EFF-B4F0-3CC75F2FFDDB}"/>
                  </a:ext>
                </a:extLst>
              </p:cNvPr>
              <p:cNvSpPr txBox="1"/>
              <p:nvPr/>
            </p:nvSpPr>
            <p:spPr>
              <a:xfrm>
                <a:off x="6603935" y="2737472"/>
                <a:ext cx="80788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0AD4217A-D003-4EFF-B4F0-3CC75F2FF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935" y="2737472"/>
                <a:ext cx="807889" cy="276999"/>
              </a:xfrm>
              <a:prstGeom prst="rect">
                <a:avLst/>
              </a:prstGeom>
              <a:blipFill>
                <a:blip r:embed="rId4"/>
                <a:stretch>
                  <a:fillRect l="-752" r="-3008" b="-1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3174164-5AC8-46C5-B6C4-3FDA22F514F2}"/>
                  </a:ext>
                </a:extLst>
              </p:cNvPr>
              <p:cNvSpPr txBox="1"/>
              <p:nvPr/>
            </p:nvSpPr>
            <p:spPr>
              <a:xfrm>
                <a:off x="6718326" y="5306258"/>
                <a:ext cx="80788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3174164-5AC8-46C5-B6C4-3FDA22F51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326" y="5306258"/>
                <a:ext cx="807889" cy="276999"/>
              </a:xfrm>
              <a:prstGeom prst="rect">
                <a:avLst/>
              </a:prstGeom>
              <a:blipFill>
                <a:blip r:embed="rId5"/>
                <a:stretch>
                  <a:fillRect l="-752" r="-3008" b="-1521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14181078-D480-4D27-B74B-B8A7C3B8C920}"/>
                  </a:ext>
                </a:extLst>
              </p:cNvPr>
              <p:cNvSpPr txBox="1"/>
              <p:nvPr/>
            </p:nvSpPr>
            <p:spPr>
              <a:xfrm>
                <a:off x="6620695" y="4508493"/>
                <a:ext cx="80788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14181078-D480-4D27-B74B-B8A7C3B8C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695" y="4508493"/>
                <a:ext cx="807889" cy="276999"/>
              </a:xfrm>
              <a:prstGeom prst="rect">
                <a:avLst/>
              </a:prstGeom>
              <a:blipFill>
                <a:blip r:embed="rId6"/>
                <a:stretch>
                  <a:fillRect r="-3008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Elipse 34">
            <a:extLst>
              <a:ext uri="{FF2B5EF4-FFF2-40B4-BE49-F238E27FC236}">
                <a16:creationId xmlns:a16="http://schemas.microsoft.com/office/drawing/2014/main" id="{3E1EB8AE-DAD1-4906-A82E-11F509C89927}"/>
              </a:ext>
            </a:extLst>
          </p:cNvPr>
          <p:cNvSpPr/>
          <p:nvPr/>
        </p:nvSpPr>
        <p:spPr>
          <a:xfrm>
            <a:off x="7873434" y="4583797"/>
            <a:ext cx="882909" cy="81451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T=0.5</a:t>
            </a:r>
            <a:endParaRPr lang="es-CO" sz="1200" dirty="0">
              <a:solidFill>
                <a:schemeClr val="tx1"/>
              </a:solidFill>
            </a:endParaRP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E62CBF9-59D0-44F2-92C6-0B1682F05ADE}"/>
              </a:ext>
            </a:extLst>
          </p:cNvPr>
          <p:cNvCxnSpPr>
            <a:stCxn id="16" idx="6"/>
          </p:cNvCxnSpPr>
          <p:nvPr/>
        </p:nvCxnSpPr>
        <p:spPr>
          <a:xfrm flipV="1">
            <a:off x="8756344" y="2465000"/>
            <a:ext cx="182558" cy="26823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9A65DF57-8CAE-4251-A0BD-42F1E7CE9E5E}"/>
              </a:ext>
            </a:extLst>
          </p:cNvPr>
          <p:cNvCxnSpPr/>
          <p:nvPr/>
        </p:nvCxnSpPr>
        <p:spPr>
          <a:xfrm>
            <a:off x="8756343" y="4991055"/>
            <a:ext cx="269802" cy="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DE0EA912-EEAA-4D81-9A23-04EF04306318}"/>
              </a:ext>
            </a:extLst>
          </p:cNvPr>
          <p:cNvSpPr txBox="1"/>
          <p:nvPr/>
        </p:nvSpPr>
        <p:spPr>
          <a:xfrm>
            <a:off x="6234341" y="2156367"/>
            <a:ext cx="46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I1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AB8067F-5863-5CD7-2330-A3E05DC39E45}"/>
              </a:ext>
            </a:extLst>
          </p:cNvPr>
          <p:cNvSpPr txBox="1"/>
          <p:nvPr/>
        </p:nvSpPr>
        <p:spPr>
          <a:xfrm>
            <a:off x="6234341" y="2694642"/>
            <a:ext cx="46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6824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8B105-399C-4A67-AFF8-3FFB9FA7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El problema del XOR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BC1905-A8C1-486C-B505-ACB3D4A5B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316" y="1511011"/>
            <a:ext cx="4849474" cy="32918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DAC8818-E7C3-4EEA-8D4A-B6310D3E7BDB}"/>
              </a:ext>
            </a:extLst>
          </p:cNvPr>
          <p:cNvSpPr txBox="1"/>
          <p:nvPr/>
        </p:nvSpPr>
        <p:spPr>
          <a:xfrm>
            <a:off x="6465455" y="1099127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Solución</a:t>
            </a:r>
            <a:endParaRPr lang="es-CO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1662910-5AE5-4AA8-8ED1-B7D50F39BE00}"/>
              </a:ext>
            </a:extLst>
          </p:cNvPr>
          <p:cNvSpPr/>
          <p:nvPr/>
        </p:nvSpPr>
        <p:spPr>
          <a:xfrm>
            <a:off x="7891652" y="2352731"/>
            <a:ext cx="556692" cy="5489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0.5</a:t>
            </a:r>
            <a:endParaRPr lang="es-CO" sz="1200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FBF08A7-86B6-46FD-8B05-1DE3BA7281E1}"/>
              </a:ext>
            </a:extLst>
          </p:cNvPr>
          <p:cNvSpPr/>
          <p:nvPr/>
        </p:nvSpPr>
        <p:spPr>
          <a:xfrm>
            <a:off x="7184637" y="3452606"/>
            <a:ext cx="556692" cy="5489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0.5</a:t>
            </a:r>
            <a:endParaRPr lang="es-CO" sz="1200" dirty="0">
              <a:solidFill>
                <a:schemeClr val="tx1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5C86E64-2C80-4055-8ED4-0D7BFE3DA1A7}"/>
              </a:ext>
            </a:extLst>
          </p:cNvPr>
          <p:cNvSpPr/>
          <p:nvPr/>
        </p:nvSpPr>
        <p:spPr>
          <a:xfrm>
            <a:off x="8774770" y="3452605"/>
            <a:ext cx="556692" cy="5489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1.5</a:t>
            </a:r>
            <a:endParaRPr lang="es-CO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D0CF4809-5431-4EB1-90D3-E48045862210}"/>
                  </a:ext>
                </a:extLst>
              </p:cNvPr>
              <p:cNvSpPr/>
              <p:nvPr/>
            </p:nvSpPr>
            <p:spPr>
              <a:xfrm>
                <a:off x="7278256" y="4830347"/>
                <a:ext cx="369456" cy="3639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D0CF4809-5431-4EB1-90D3-E48045862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256" y="4830347"/>
                <a:ext cx="369456" cy="363985"/>
              </a:xfrm>
              <a:prstGeom prst="rect">
                <a:avLst/>
              </a:prstGeom>
              <a:blipFill>
                <a:blip r:embed="rId3"/>
                <a:stretch>
                  <a:fillRect l="-15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57F34D3F-A9A8-4CDA-A365-A385EF6B365B}"/>
                  </a:ext>
                </a:extLst>
              </p:cNvPr>
              <p:cNvSpPr/>
              <p:nvPr/>
            </p:nvSpPr>
            <p:spPr>
              <a:xfrm>
                <a:off x="8867142" y="4839582"/>
                <a:ext cx="369456" cy="3639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57F34D3F-A9A8-4CDA-A365-A385EF6B3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142" y="4839582"/>
                <a:ext cx="369456" cy="363985"/>
              </a:xfrm>
              <a:prstGeom prst="rect">
                <a:avLst/>
              </a:prstGeom>
              <a:blipFill>
                <a:blip r:embed="rId4"/>
                <a:stretch>
                  <a:fillRect l="-32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755BF11-91EC-47D6-8700-25F176D2EA47}"/>
              </a:ext>
            </a:extLst>
          </p:cNvPr>
          <p:cNvCxnSpPr>
            <a:stCxn id="18" idx="0"/>
            <a:endCxn id="16" idx="4"/>
          </p:cNvCxnSpPr>
          <p:nvPr/>
        </p:nvCxnSpPr>
        <p:spPr>
          <a:xfrm flipV="1">
            <a:off x="7462984" y="4001568"/>
            <a:ext cx="1590132" cy="82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60321CC-8F3B-48B1-8E30-133460474A73}"/>
              </a:ext>
            </a:extLst>
          </p:cNvPr>
          <p:cNvCxnSpPr>
            <a:stCxn id="18" idx="0"/>
            <a:endCxn id="15" idx="4"/>
          </p:cNvCxnSpPr>
          <p:nvPr/>
        </p:nvCxnSpPr>
        <p:spPr>
          <a:xfrm flipH="1" flipV="1">
            <a:off x="7462983" y="4001569"/>
            <a:ext cx="1" cy="828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DCB1723-36E7-4EB3-AF7A-5ECF3578693D}"/>
              </a:ext>
            </a:extLst>
          </p:cNvPr>
          <p:cNvCxnSpPr>
            <a:stCxn id="19" idx="0"/>
            <a:endCxn id="15" idx="4"/>
          </p:cNvCxnSpPr>
          <p:nvPr/>
        </p:nvCxnSpPr>
        <p:spPr>
          <a:xfrm flipH="1" flipV="1">
            <a:off x="7462983" y="4001569"/>
            <a:ext cx="1588887" cy="838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613E01C-2091-4309-9BAF-33268943E863}"/>
              </a:ext>
            </a:extLst>
          </p:cNvPr>
          <p:cNvCxnSpPr>
            <a:stCxn id="19" idx="0"/>
            <a:endCxn id="16" idx="4"/>
          </p:cNvCxnSpPr>
          <p:nvPr/>
        </p:nvCxnSpPr>
        <p:spPr>
          <a:xfrm flipV="1">
            <a:off x="9051870" y="4001568"/>
            <a:ext cx="1246" cy="838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6B871E2-1508-4734-A524-88023827730D}"/>
              </a:ext>
            </a:extLst>
          </p:cNvPr>
          <p:cNvCxnSpPr>
            <a:stCxn id="15" idx="0"/>
            <a:endCxn id="14" idx="4"/>
          </p:cNvCxnSpPr>
          <p:nvPr/>
        </p:nvCxnSpPr>
        <p:spPr>
          <a:xfrm flipV="1">
            <a:off x="7462983" y="2901694"/>
            <a:ext cx="707015" cy="550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838E7C3-7144-49FB-BED4-825B7F63F966}"/>
              </a:ext>
            </a:extLst>
          </p:cNvPr>
          <p:cNvCxnSpPr>
            <a:stCxn id="16" idx="0"/>
            <a:endCxn id="14" idx="4"/>
          </p:cNvCxnSpPr>
          <p:nvPr/>
        </p:nvCxnSpPr>
        <p:spPr>
          <a:xfrm flipH="1" flipV="1">
            <a:off x="8169998" y="2901694"/>
            <a:ext cx="883118" cy="550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5810B4DE-8789-4456-B954-E5CA0531C60F}"/>
              </a:ext>
            </a:extLst>
          </p:cNvPr>
          <p:cNvCxnSpPr>
            <a:stCxn id="14" idx="0"/>
          </p:cNvCxnSpPr>
          <p:nvPr/>
        </p:nvCxnSpPr>
        <p:spPr>
          <a:xfrm flipV="1">
            <a:off x="8169998" y="2020735"/>
            <a:ext cx="0" cy="3319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1A2356F-AC94-4F92-A8EF-B2B1655CA5CC}"/>
              </a:ext>
            </a:extLst>
          </p:cNvPr>
          <p:cNvSpPr txBox="1"/>
          <p:nvPr/>
        </p:nvSpPr>
        <p:spPr>
          <a:xfrm>
            <a:off x="7232700" y="4231760"/>
            <a:ext cx="249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1</a:t>
            </a:r>
            <a:endParaRPr lang="es-CO" sz="14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AD3161F-742F-4A35-A033-0EF7BCDBD541}"/>
              </a:ext>
            </a:extLst>
          </p:cNvPr>
          <p:cNvSpPr txBox="1"/>
          <p:nvPr/>
        </p:nvSpPr>
        <p:spPr>
          <a:xfrm>
            <a:off x="8558117" y="3922347"/>
            <a:ext cx="249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1</a:t>
            </a:r>
            <a:endParaRPr lang="es-CO" sz="14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EB00625-6B3C-443A-9295-9380157382E9}"/>
              </a:ext>
            </a:extLst>
          </p:cNvPr>
          <p:cNvSpPr txBox="1"/>
          <p:nvPr/>
        </p:nvSpPr>
        <p:spPr>
          <a:xfrm>
            <a:off x="7736080" y="3959288"/>
            <a:ext cx="249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1</a:t>
            </a:r>
            <a:endParaRPr lang="es-CO" sz="14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1B96B5A-567E-47B5-A67F-72FEB7646F85}"/>
              </a:ext>
            </a:extLst>
          </p:cNvPr>
          <p:cNvSpPr txBox="1"/>
          <p:nvPr/>
        </p:nvSpPr>
        <p:spPr>
          <a:xfrm>
            <a:off x="9001464" y="4217906"/>
            <a:ext cx="249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1</a:t>
            </a:r>
            <a:endParaRPr lang="es-CO" sz="14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DD2884F-3DC0-4C12-A6BF-519C84C3B331}"/>
              </a:ext>
            </a:extLst>
          </p:cNvPr>
          <p:cNvSpPr txBox="1"/>
          <p:nvPr/>
        </p:nvSpPr>
        <p:spPr>
          <a:xfrm>
            <a:off x="7505172" y="2989468"/>
            <a:ext cx="249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1</a:t>
            </a:r>
            <a:endParaRPr lang="es-CO" sz="14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C0B7A4A-EC21-4084-BBE0-F498FD1ECAB0}"/>
              </a:ext>
            </a:extLst>
          </p:cNvPr>
          <p:cNvSpPr txBox="1"/>
          <p:nvPr/>
        </p:nvSpPr>
        <p:spPr>
          <a:xfrm>
            <a:off x="8558124" y="2961759"/>
            <a:ext cx="443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-1</a:t>
            </a:r>
            <a:endParaRPr lang="es-C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a 40">
                <a:extLst>
                  <a:ext uri="{FF2B5EF4-FFF2-40B4-BE49-F238E27FC236}">
                    <a16:creationId xmlns:a16="http://schemas.microsoft.com/office/drawing/2014/main" id="{3BDA604A-C92A-4224-81A4-93BCFC0F51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863277"/>
                  </p:ext>
                </p:extLst>
              </p:nvPr>
            </p:nvGraphicFramePr>
            <p:xfrm>
              <a:off x="9698826" y="1684926"/>
              <a:ext cx="1917100" cy="20421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383420">
                      <a:extLst>
                        <a:ext uri="{9D8B030D-6E8A-4147-A177-3AD203B41FA5}">
                          <a16:colId xmlns:a16="http://schemas.microsoft.com/office/drawing/2014/main" val="1431035937"/>
                        </a:ext>
                      </a:extLst>
                    </a:gridCol>
                    <a:gridCol w="383420">
                      <a:extLst>
                        <a:ext uri="{9D8B030D-6E8A-4147-A177-3AD203B41FA5}">
                          <a16:colId xmlns:a16="http://schemas.microsoft.com/office/drawing/2014/main" val="2038192210"/>
                        </a:ext>
                      </a:extLst>
                    </a:gridCol>
                    <a:gridCol w="383420">
                      <a:extLst>
                        <a:ext uri="{9D8B030D-6E8A-4147-A177-3AD203B41FA5}">
                          <a16:colId xmlns:a16="http://schemas.microsoft.com/office/drawing/2014/main" val="2218719285"/>
                        </a:ext>
                      </a:extLst>
                    </a:gridCol>
                    <a:gridCol w="383420">
                      <a:extLst>
                        <a:ext uri="{9D8B030D-6E8A-4147-A177-3AD203B41FA5}">
                          <a16:colId xmlns:a16="http://schemas.microsoft.com/office/drawing/2014/main" val="3674639955"/>
                        </a:ext>
                      </a:extLst>
                    </a:gridCol>
                    <a:gridCol w="383420">
                      <a:extLst>
                        <a:ext uri="{9D8B030D-6E8A-4147-A177-3AD203B41FA5}">
                          <a16:colId xmlns:a16="http://schemas.microsoft.com/office/drawing/2014/main" val="193737512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sz="16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sz="16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s-ES" sz="16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CO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s-ES" sz="16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sz="16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7594919"/>
                      </a:ext>
                    </a:extLst>
                  </a:tr>
                  <a:tr h="331896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841258"/>
                      </a:ext>
                    </a:extLst>
                  </a:tr>
                  <a:tr h="331896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3538688"/>
                      </a:ext>
                    </a:extLst>
                  </a:tr>
                  <a:tr h="331896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632064"/>
                      </a:ext>
                    </a:extLst>
                  </a:tr>
                  <a:tr h="331896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29977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a 40">
                <a:extLst>
                  <a:ext uri="{FF2B5EF4-FFF2-40B4-BE49-F238E27FC236}">
                    <a16:creationId xmlns:a16="http://schemas.microsoft.com/office/drawing/2014/main" id="{3BDA604A-C92A-4224-81A4-93BCFC0F51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863277"/>
                  </p:ext>
                </p:extLst>
              </p:nvPr>
            </p:nvGraphicFramePr>
            <p:xfrm>
              <a:off x="9698826" y="1684926"/>
              <a:ext cx="1917100" cy="20421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383420">
                      <a:extLst>
                        <a:ext uri="{9D8B030D-6E8A-4147-A177-3AD203B41FA5}">
                          <a16:colId xmlns:a16="http://schemas.microsoft.com/office/drawing/2014/main" val="1431035937"/>
                        </a:ext>
                      </a:extLst>
                    </a:gridCol>
                    <a:gridCol w="383420">
                      <a:extLst>
                        <a:ext uri="{9D8B030D-6E8A-4147-A177-3AD203B41FA5}">
                          <a16:colId xmlns:a16="http://schemas.microsoft.com/office/drawing/2014/main" val="2038192210"/>
                        </a:ext>
                      </a:extLst>
                    </a:gridCol>
                    <a:gridCol w="383420">
                      <a:extLst>
                        <a:ext uri="{9D8B030D-6E8A-4147-A177-3AD203B41FA5}">
                          <a16:colId xmlns:a16="http://schemas.microsoft.com/office/drawing/2014/main" val="2218719285"/>
                        </a:ext>
                      </a:extLst>
                    </a:gridCol>
                    <a:gridCol w="383420">
                      <a:extLst>
                        <a:ext uri="{9D8B030D-6E8A-4147-A177-3AD203B41FA5}">
                          <a16:colId xmlns:a16="http://schemas.microsoft.com/office/drawing/2014/main" val="3674639955"/>
                        </a:ext>
                      </a:extLst>
                    </a:gridCol>
                    <a:gridCol w="383420">
                      <a:extLst>
                        <a:ext uri="{9D8B030D-6E8A-4147-A177-3AD203B41FA5}">
                          <a16:colId xmlns:a16="http://schemas.microsoft.com/office/drawing/2014/main" val="1937375124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75" t="-3158" r="-403175" b="-26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3175" t="-3158" r="-303175" b="-26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03175" t="-3158" r="-203175" b="-26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03175" t="-3158" r="-103175" b="-26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60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  <a:endParaRPr lang="es-CO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75949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84125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35386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6320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1</a:t>
                          </a:r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0</a:t>
                          </a:r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299773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A4C85CB-FC42-4AD2-A7B4-8B823D65E031}"/>
              </a:ext>
            </a:extLst>
          </p:cNvPr>
          <p:cNvCxnSpPr/>
          <p:nvPr/>
        </p:nvCxnSpPr>
        <p:spPr>
          <a:xfrm>
            <a:off x="5985164" y="1366982"/>
            <a:ext cx="0" cy="5153891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38890F5-3536-43BC-97FB-B5D49F4BF1CC}"/>
              </a:ext>
            </a:extLst>
          </p:cNvPr>
          <p:cNvSpPr txBox="1"/>
          <p:nvPr/>
        </p:nvSpPr>
        <p:spPr>
          <a:xfrm>
            <a:off x="674255" y="5021574"/>
            <a:ext cx="5199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No es una operación linealmente separable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18949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138BC-B2DB-4B8F-A188-601F064D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1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 err="1">
                <a:solidFill>
                  <a:schemeClr val="accent4">
                    <a:lumMod val="50000"/>
                  </a:schemeClr>
                </a:solidFill>
              </a:rPr>
              <a:t>Pereceptron</a:t>
            </a:r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 multicapas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E54285-61CA-4EA2-9656-D2F88001A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56" y="2969504"/>
            <a:ext cx="4733139" cy="3357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708326-C1D2-441C-9A0E-ACBAE82E0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32" y="1064919"/>
            <a:ext cx="6009784" cy="19695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297196-C997-4C7C-B0E5-0E6D35B56569}"/>
              </a:ext>
            </a:extLst>
          </p:cNvPr>
          <p:cNvSpPr txBox="1"/>
          <p:nvPr/>
        </p:nvSpPr>
        <p:spPr>
          <a:xfrm>
            <a:off x="5926786" y="1064919"/>
            <a:ext cx="3702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Calibri" panose="020F0502020204030204" pitchFamily="34" charset="0"/>
                <a:cs typeface="Calibri" panose="020F0502020204030204" pitchFamily="34" charset="0"/>
              </a:rPr>
              <a:t>Función de activación sigmoidea</a:t>
            </a:r>
            <a:endParaRPr lang="en-CA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B764D371-511D-466B-837E-B31F58BE8360}"/>
              </a:ext>
            </a:extLst>
          </p:cNvPr>
          <p:cNvCxnSpPr>
            <a:cxnSpLocks/>
          </p:cNvCxnSpPr>
          <p:nvPr/>
        </p:nvCxnSpPr>
        <p:spPr>
          <a:xfrm flipH="1">
            <a:off x="4974580" y="1344454"/>
            <a:ext cx="822538" cy="53307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C635760-122B-45F3-8500-0D4B2B1DC160}"/>
              </a:ext>
            </a:extLst>
          </p:cNvPr>
          <p:cNvSpPr txBox="1"/>
          <p:nvPr/>
        </p:nvSpPr>
        <p:spPr>
          <a:xfrm>
            <a:off x="6007173" y="3865140"/>
            <a:ext cx="5099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Feedforward</a:t>
            </a:r>
            <a:r>
              <a:rPr lang="en-US" sz="2000" dirty="0">
                <a:solidFill>
                  <a:srgbClr val="000000"/>
                </a:solidFill>
                <a:latin typeface="MinionPro-Regular"/>
              </a:rPr>
              <a:t>.</a:t>
            </a:r>
            <a:r>
              <a:rPr lang="en-US" sz="2000" b="0" i="0" u="none" strike="noStrike" dirty="0">
                <a:solidFill>
                  <a:srgbClr val="000000"/>
                </a:solidFill>
                <a:latin typeface="MinionPro-Regular"/>
              </a:rPr>
              <a:t> </a:t>
            </a:r>
          </a:p>
          <a:p>
            <a:pPr algn="l"/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Est</a:t>
            </a:r>
            <a:r>
              <a:rPr lang="en-US" sz="2000" dirty="0" err="1">
                <a:solidFill>
                  <a:srgbClr val="000000"/>
                </a:solidFill>
                <a:latin typeface="MinionPro-Regular"/>
              </a:rPr>
              <a:t>á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compuesto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por una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capa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de entrada,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minimo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una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capa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occulta y una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capa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de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salida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.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Todas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las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capas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incluyen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un bias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excepto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la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capa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 de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inionPro-Regular"/>
              </a:rPr>
              <a:t>salida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inionPro-Regula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950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6B809-B6F6-402A-A46B-D261D469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81" y="340845"/>
            <a:ext cx="3322207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Entrenamiento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B2E33B4-9CC9-4CCA-8501-1F3D70C44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1" y="1746034"/>
            <a:ext cx="4699713" cy="21286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A02B6F5-F0D2-4633-B098-668AB1366D5B}"/>
              </a:ext>
            </a:extLst>
          </p:cNvPr>
          <p:cNvSpPr txBox="1"/>
          <p:nvPr/>
        </p:nvSpPr>
        <p:spPr>
          <a:xfrm>
            <a:off x="5377415" y="772783"/>
            <a:ext cx="2015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4">
                    <a:lumMod val="50000"/>
                  </a:schemeClr>
                </a:solidFill>
              </a:rPr>
              <a:t>Se lleva a cabo en dos pasos: forward y </a:t>
            </a:r>
            <a:r>
              <a:rPr lang="es-ES" sz="2000" dirty="0" err="1">
                <a:solidFill>
                  <a:schemeClr val="accent4">
                    <a:lumMod val="50000"/>
                  </a:schemeClr>
                </a:solidFill>
              </a:rPr>
              <a:t>backward</a:t>
            </a:r>
            <a:endParaRPr lang="es-CO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4173" name="Grupo 4172">
            <a:extLst>
              <a:ext uri="{FF2B5EF4-FFF2-40B4-BE49-F238E27FC236}">
                <a16:creationId xmlns:a16="http://schemas.microsoft.com/office/drawing/2014/main" id="{FA104AF8-13E6-350F-3078-5C2927214C4B}"/>
              </a:ext>
            </a:extLst>
          </p:cNvPr>
          <p:cNvGrpSpPr/>
          <p:nvPr/>
        </p:nvGrpSpPr>
        <p:grpSpPr>
          <a:xfrm>
            <a:off x="404430" y="4363904"/>
            <a:ext cx="4885662" cy="2059005"/>
            <a:chOff x="7008279" y="4203732"/>
            <a:chExt cx="4885662" cy="20590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EAC6A673-710C-C2D6-CFA4-A27DD8B9CB47}"/>
                    </a:ext>
                  </a:extLst>
                </p:cNvPr>
                <p:cNvSpPr txBox="1"/>
                <p:nvPr/>
              </p:nvSpPr>
              <p:spPr>
                <a:xfrm>
                  <a:off x="7014101" y="4291963"/>
                  <a:ext cx="118942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=1,..,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EAC6A673-710C-C2D6-CFA4-A27DD8B9C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4101" y="4291963"/>
                  <a:ext cx="1189428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3590" r="-3077" b="-588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3BA2BD7-1845-CACF-9263-BF1AD5BEE416}"/>
                </a:ext>
              </a:extLst>
            </p:cNvPr>
            <p:cNvSpPr txBox="1"/>
            <p:nvPr/>
          </p:nvSpPr>
          <p:spPr>
            <a:xfrm>
              <a:off x="8382455" y="4203732"/>
              <a:ext cx="35114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dirty="0"/>
                <a:t>Número de variables de entrada</a:t>
              </a:r>
              <a:endParaRPr lang="es-CO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352F5032-E6B3-4981-CD9B-623C893715D0}"/>
                    </a:ext>
                  </a:extLst>
                </p:cNvPr>
                <p:cNvSpPr txBox="1"/>
                <p:nvPr/>
              </p:nvSpPr>
              <p:spPr>
                <a:xfrm>
                  <a:off x="7032956" y="4757898"/>
                  <a:ext cx="129298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=1,…</m:t>
                        </m:r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352F5032-E6B3-4981-CD9B-623C89371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2956" y="4757898"/>
                  <a:ext cx="1292983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5189" r="-472" b="-34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D2E7E22-5EAA-D20A-6AA4-C06EA51957DA}"/>
                </a:ext>
              </a:extLst>
            </p:cNvPr>
            <p:cNvSpPr txBox="1"/>
            <p:nvPr/>
          </p:nvSpPr>
          <p:spPr>
            <a:xfrm>
              <a:off x="8325939" y="4757898"/>
              <a:ext cx="3568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dirty="0"/>
                <a:t>Número neuronas de la capa oculta</a:t>
              </a:r>
              <a:endParaRPr lang="es-CO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544594DA-BD8F-A9FD-FDD8-C1EA0A434551}"/>
                    </a:ext>
                  </a:extLst>
                </p:cNvPr>
                <p:cNvSpPr txBox="1"/>
                <p:nvPr/>
              </p:nvSpPr>
              <p:spPr>
                <a:xfrm>
                  <a:off x="7008279" y="5553361"/>
                  <a:ext cx="127323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=1,…</m:t>
                        </m:r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544594DA-BD8F-A9FD-FDD8-C1EA0A434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8279" y="5553361"/>
                  <a:ext cx="1273234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4306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C5C339F-7590-A0AA-DEAF-A24C8825DF94}"/>
                </a:ext>
              </a:extLst>
            </p:cNvPr>
            <p:cNvSpPr txBox="1"/>
            <p:nvPr/>
          </p:nvSpPr>
          <p:spPr>
            <a:xfrm>
              <a:off x="8325939" y="5554851"/>
              <a:ext cx="3568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dirty="0"/>
                <a:t>Número neuronas de la capa de salida</a:t>
              </a:r>
              <a:endParaRPr lang="es-CO" sz="2000" dirty="0"/>
            </a:p>
          </p:txBody>
        </p:sp>
      </p:grpSp>
      <p:sp>
        <p:nvSpPr>
          <p:cNvPr id="4159" name="CuadroTexto 4158">
            <a:extLst>
              <a:ext uri="{FF2B5EF4-FFF2-40B4-BE49-F238E27FC236}">
                <a16:creationId xmlns:a16="http://schemas.microsoft.com/office/drawing/2014/main" id="{0EF13E06-D4F7-EABE-1721-DBBC1DC0F88B}"/>
              </a:ext>
            </a:extLst>
          </p:cNvPr>
          <p:cNvSpPr txBox="1"/>
          <p:nvPr/>
        </p:nvSpPr>
        <p:spPr>
          <a:xfrm>
            <a:off x="10982100" y="3522395"/>
            <a:ext cx="1036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Capa de Oculta</a:t>
            </a:r>
            <a:endParaRPr lang="es-CO" dirty="0"/>
          </a:p>
        </p:txBody>
      </p:sp>
      <p:grpSp>
        <p:nvGrpSpPr>
          <p:cNvPr id="4172" name="Grupo 4171">
            <a:extLst>
              <a:ext uri="{FF2B5EF4-FFF2-40B4-BE49-F238E27FC236}">
                <a16:creationId xmlns:a16="http://schemas.microsoft.com/office/drawing/2014/main" id="{E36F9633-D60B-2292-A237-392577813A62}"/>
              </a:ext>
            </a:extLst>
          </p:cNvPr>
          <p:cNvGrpSpPr/>
          <p:nvPr/>
        </p:nvGrpSpPr>
        <p:grpSpPr>
          <a:xfrm>
            <a:off x="5679660" y="869128"/>
            <a:ext cx="5909450" cy="5203413"/>
            <a:chOff x="534901" y="1109127"/>
            <a:chExt cx="5909450" cy="5203413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7A3477B-7AEB-15B5-510C-F82EE949455E}"/>
                </a:ext>
              </a:extLst>
            </p:cNvPr>
            <p:cNvSpPr/>
            <p:nvPr/>
          </p:nvSpPr>
          <p:spPr>
            <a:xfrm>
              <a:off x="848939" y="5308141"/>
              <a:ext cx="656493" cy="671934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490A4E4-49B4-BC16-A90E-2DE29760ACCC}"/>
                </a:ext>
              </a:extLst>
            </p:cNvPr>
            <p:cNvSpPr/>
            <p:nvPr/>
          </p:nvSpPr>
          <p:spPr>
            <a:xfrm>
              <a:off x="2077502" y="5308141"/>
              <a:ext cx="619624" cy="650531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1AD65DE6-B1A5-FF5D-DCA9-75DCD9EBD078}"/>
                </a:ext>
              </a:extLst>
            </p:cNvPr>
            <p:cNvSpPr/>
            <p:nvPr/>
          </p:nvSpPr>
          <p:spPr>
            <a:xfrm>
              <a:off x="3254962" y="5308141"/>
              <a:ext cx="619624" cy="650531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A681FB97-43DB-A580-D6D1-7C66EE9BC7AA}"/>
                </a:ext>
              </a:extLst>
            </p:cNvPr>
            <p:cNvSpPr/>
            <p:nvPr/>
          </p:nvSpPr>
          <p:spPr>
            <a:xfrm>
              <a:off x="4511719" y="5348120"/>
              <a:ext cx="619624" cy="650531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2596C18-E7F9-C3A2-19D3-E7AE4A3A8E80}"/>
                </a:ext>
              </a:extLst>
            </p:cNvPr>
            <p:cNvSpPr txBox="1"/>
            <p:nvPr/>
          </p:nvSpPr>
          <p:spPr>
            <a:xfrm>
              <a:off x="820046" y="5998651"/>
              <a:ext cx="782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/>
                <a:t>Outlook</a:t>
              </a:r>
              <a:endParaRPr lang="es-CO" sz="1400" dirty="0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1E3263C0-5CB4-2771-4192-327FDED70BEE}"/>
                </a:ext>
              </a:extLst>
            </p:cNvPr>
            <p:cNvSpPr txBox="1"/>
            <p:nvPr/>
          </p:nvSpPr>
          <p:spPr>
            <a:xfrm>
              <a:off x="1814008" y="5998651"/>
              <a:ext cx="12429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 err="1"/>
                <a:t>Temperature</a:t>
              </a:r>
              <a:endParaRPr lang="es-CO" sz="1400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EB08EB1-C2E6-06DC-B444-B1CEA52C2EF3}"/>
                </a:ext>
              </a:extLst>
            </p:cNvPr>
            <p:cNvSpPr txBox="1"/>
            <p:nvPr/>
          </p:nvSpPr>
          <p:spPr>
            <a:xfrm>
              <a:off x="3162863" y="6004763"/>
              <a:ext cx="12429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 err="1"/>
                <a:t>Humidity</a:t>
              </a:r>
              <a:endParaRPr lang="es-CO" sz="1400" dirty="0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33DF80C-FBDC-0A12-D77F-52683EA6782D}"/>
                </a:ext>
              </a:extLst>
            </p:cNvPr>
            <p:cNvSpPr txBox="1"/>
            <p:nvPr/>
          </p:nvSpPr>
          <p:spPr>
            <a:xfrm>
              <a:off x="4523440" y="5998650"/>
              <a:ext cx="12429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 err="1"/>
                <a:t>Wind</a:t>
              </a:r>
              <a:endParaRPr lang="es-CO" sz="1400" dirty="0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7261C68-0D17-5D8A-0CAF-70EB1FD72CC2}"/>
                </a:ext>
              </a:extLst>
            </p:cNvPr>
            <p:cNvSpPr/>
            <p:nvPr/>
          </p:nvSpPr>
          <p:spPr>
            <a:xfrm>
              <a:off x="746966" y="3739618"/>
              <a:ext cx="656493" cy="640536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5603AC0-6284-E87F-70E5-A713FCDE9CEA}"/>
                </a:ext>
              </a:extLst>
            </p:cNvPr>
            <p:cNvSpPr/>
            <p:nvPr/>
          </p:nvSpPr>
          <p:spPr>
            <a:xfrm>
              <a:off x="1912965" y="3729623"/>
              <a:ext cx="619623" cy="650531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67C54E3-5833-74B0-D282-D17EEAEA6532}"/>
                </a:ext>
              </a:extLst>
            </p:cNvPr>
            <p:cNvSpPr/>
            <p:nvPr/>
          </p:nvSpPr>
          <p:spPr>
            <a:xfrm>
              <a:off x="2979899" y="3739618"/>
              <a:ext cx="619622" cy="650531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36DE55B2-8168-0902-69F9-D428ACC01232}"/>
                </a:ext>
              </a:extLst>
            </p:cNvPr>
            <p:cNvSpPr/>
            <p:nvPr/>
          </p:nvSpPr>
          <p:spPr>
            <a:xfrm>
              <a:off x="4005869" y="3739618"/>
              <a:ext cx="619622" cy="635342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F8DD8D72-CE8E-5F4C-CA31-8B40BDD46636}"/>
                </a:ext>
              </a:extLst>
            </p:cNvPr>
            <p:cNvSpPr/>
            <p:nvPr/>
          </p:nvSpPr>
          <p:spPr>
            <a:xfrm>
              <a:off x="5113491" y="3729623"/>
              <a:ext cx="619622" cy="65594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ECD64FA8-A1FB-6FDE-B959-1B89A7F2ED61}"/>
                </a:ext>
              </a:extLst>
            </p:cNvPr>
            <p:cNvSpPr/>
            <p:nvPr/>
          </p:nvSpPr>
          <p:spPr>
            <a:xfrm>
              <a:off x="1961084" y="2344705"/>
              <a:ext cx="619622" cy="650531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1583612A-D05C-182A-B14A-389CCBD854E0}"/>
                </a:ext>
              </a:extLst>
            </p:cNvPr>
            <p:cNvSpPr/>
            <p:nvPr/>
          </p:nvSpPr>
          <p:spPr>
            <a:xfrm>
              <a:off x="3514850" y="2380158"/>
              <a:ext cx="619622" cy="652613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737C178D-00A4-9B91-ECDF-25B3D7F1D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0079" y="5490459"/>
              <a:ext cx="394212" cy="365851"/>
            </a:xfrm>
            <a:prstGeom prst="rect">
              <a:avLst/>
            </a:prstGeom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624D025E-9853-DD02-E23B-66FD03A3D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0765" y="5461182"/>
              <a:ext cx="394212" cy="365851"/>
            </a:xfrm>
            <a:prstGeom prst="rect">
              <a:avLst/>
            </a:prstGeom>
          </p:spPr>
        </p:pic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C159178A-970D-1F12-4389-30F7D4D1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03308" y="5451380"/>
              <a:ext cx="394212" cy="365851"/>
            </a:xfrm>
            <a:prstGeom prst="rect">
              <a:avLst/>
            </a:prstGeom>
          </p:spPr>
        </p:pic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8A6553C9-39C7-8731-BB68-549516407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19037" y="5490458"/>
              <a:ext cx="394212" cy="365851"/>
            </a:xfrm>
            <a:prstGeom prst="rect">
              <a:avLst/>
            </a:prstGeom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AA21CD80-7E56-45C1-3510-7FBDF745C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2413" y="3928088"/>
              <a:ext cx="465598" cy="273589"/>
            </a:xfrm>
            <a:prstGeom prst="rect">
              <a:avLst/>
            </a:prstGeom>
          </p:spPr>
        </p:pic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1E5DC5A2-A6E5-15A7-C3EF-771469C78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89977" y="3920954"/>
              <a:ext cx="465598" cy="273589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95705A94-E2CB-9A4B-3FFB-60C1494CE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4381" y="3920954"/>
              <a:ext cx="465598" cy="273589"/>
            </a:xfrm>
            <a:prstGeom prst="rect">
              <a:avLst/>
            </a:prstGeom>
          </p:spPr>
        </p:pic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46DF2C4A-3D25-D883-E89F-D7440F69F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87521" y="3918093"/>
              <a:ext cx="465598" cy="273589"/>
            </a:xfrm>
            <a:prstGeom prst="rect">
              <a:avLst/>
            </a:prstGeom>
          </p:spPr>
        </p:pic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3B565D9E-CBFD-8394-FF88-FB3DCB555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3041" y="3905597"/>
              <a:ext cx="465598" cy="273589"/>
            </a:xfrm>
            <a:prstGeom prst="rect">
              <a:avLst/>
            </a:prstGeom>
          </p:spPr>
        </p:pic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9905FC14-3FD7-58DB-4718-96C8E8C5C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38096" y="2513919"/>
              <a:ext cx="465598" cy="273589"/>
            </a:xfrm>
            <a:prstGeom prst="rect">
              <a:avLst/>
            </a:prstGeom>
          </p:spPr>
        </p:pic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6499E48A-30BC-8537-0318-0E8AE979E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91862" y="2569669"/>
              <a:ext cx="465598" cy="273589"/>
            </a:xfrm>
            <a:prstGeom prst="rect">
              <a:avLst/>
            </a:prstGeom>
          </p:spPr>
        </p:pic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71AA043C-7B74-07EF-E7CD-B81B1127A8AF}"/>
                </a:ext>
              </a:extLst>
            </p:cNvPr>
            <p:cNvCxnSpPr>
              <a:stCxn id="12" idx="0"/>
              <a:endCxn id="20" idx="4"/>
            </p:cNvCxnSpPr>
            <p:nvPr/>
          </p:nvCxnSpPr>
          <p:spPr>
            <a:xfrm flipH="1" flipV="1">
              <a:off x="1075213" y="4380154"/>
              <a:ext cx="101973" cy="927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9C7A1355-31E8-1408-0DE2-AA04ABA23FC9}"/>
                </a:ext>
              </a:extLst>
            </p:cNvPr>
            <p:cNvCxnSpPr>
              <a:stCxn id="12" idx="0"/>
              <a:endCxn id="21" idx="4"/>
            </p:cNvCxnSpPr>
            <p:nvPr/>
          </p:nvCxnSpPr>
          <p:spPr>
            <a:xfrm flipV="1">
              <a:off x="1177186" y="4380154"/>
              <a:ext cx="1045591" cy="927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7E3F184C-5058-7F36-1060-F457E7DF80F8}"/>
                </a:ext>
              </a:extLst>
            </p:cNvPr>
            <p:cNvCxnSpPr>
              <a:endCxn id="22" idx="4"/>
            </p:cNvCxnSpPr>
            <p:nvPr/>
          </p:nvCxnSpPr>
          <p:spPr>
            <a:xfrm flipV="1">
              <a:off x="1206967" y="4390149"/>
              <a:ext cx="2082743" cy="8989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BD307D28-DCDA-D3D0-00F6-3E641E76708B}"/>
                </a:ext>
              </a:extLst>
            </p:cNvPr>
            <p:cNvCxnSpPr>
              <a:endCxn id="23" idx="4"/>
            </p:cNvCxnSpPr>
            <p:nvPr/>
          </p:nvCxnSpPr>
          <p:spPr>
            <a:xfrm flipV="1">
              <a:off x="1187773" y="4374960"/>
              <a:ext cx="3127907" cy="9446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0C401D56-3B88-7E80-A7D6-9FDDABF11741}"/>
                </a:ext>
              </a:extLst>
            </p:cNvPr>
            <p:cNvCxnSpPr>
              <a:stCxn id="12" idx="0"/>
              <a:endCxn id="24" idx="4"/>
            </p:cNvCxnSpPr>
            <p:nvPr/>
          </p:nvCxnSpPr>
          <p:spPr>
            <a:xfrm flipV="1">
              <a:off x="1177186" y="4385563"/>
              <a:ext cx="4246116" cy="9225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de flecha 57">
              <a:extLst>
                <a:ext uri="{FF2B5EF4-FFF2-40B4-BE49-F238E27FC236}">
                  <a16:creationId xmlns:a16="http://schemas.microsoft.com/office/drawing/2014/main" id="{47B1F35D-1B3B-E04A-2605-DB78ED2D85B7}"/>
                </a:ext>
              </a:extLst>
            </p:cNvPr>
            <p:cNvCxnSpPr>
              <a:stCxn id="13" idx="0"/>
              <a:endCxn id="20" idx="4"/>
            </p:cNvCxnSpPr>
            <p:nvPr/>
          </p:nvCxnSpPr>
          <p:spPr>
            <a:xfrm flipH="1" flipV="1">
              <a:off x="1075213" y="4380154"/>
              <a:ext cx="1312101" cy="927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de flecha 58">
              <a:extLst>
                <a:ext uri="{FF2B5EF4-FFF2-40B4-BE49-F238E27FC236}">
                  <a16:creationId xmlns:a16="http://schemas.microsoft.com/office/drawing/2014/main" id="{471FD8A3-A6BB-B182-8108-6FA29D7EEEB0}"/>
                </a:ext>
              </a:extLst>
            </p:cNvPr>
            <p:cNvCxnSpPr>
              <a:stCxn id="13" idx="0"/>
              <a:endCxn id="21" idx="4"/>
            </p:cNvCxnSpPr>
            <p:nvPr/>
          </p:nvCxnSpPr>
          <p:spPr>
            <a:xfrm flipH="1" flipV="1">
              <a:off x="2222777" y="4380154"/>
              <a:ext cx="164537" cy="927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de flecha 62">
              <a:extLst>
                <a:ext uri="{FF2B5EF4-FFF2-40B4-BE49-F238E27FC236}">
                  <a16:creationId xmlns:a16="http://schemas.microsoft.com/office/drawing/2014/main" id="{804ABEF1-A6F8-7358-0B35-D0B1F61E42DA}"/>
                </a:ext>
              </a:extLst>
            </p:cNvPr>
            <p:cNvCxnSpPr>
              <a:stCxn id="13" idx="0"/>
              <a:endCxn id="22" idx="4"/>
            </p:cNvCxnSpPr>
            <p:nvPr/>
          </p:nvCxnSpPr>
          <p:spPr>
            <a:xfrm flipV="1">
              <a:off x="2387314" y="4390149"/>
              <a:ext cx="902396" cy="917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Conector recto de flecha 4098">
              <a:extLst>
                <a:ext uri="{FF2B5EF4-FFF2-40B4-BE49-F238E27FC236}">
                  <a16:creationId xmlns:a16="http://schemas.microsoft.com/office/drawing/2014/main" id="{4DBA28DB-076D-0023-82E7-4B25D0CD607C}"/>
                </a:ext>
              </a:extLst>
            </p:cNvPr>
            <p:cNvCxnSpPr>
              <a:stCxn id="13" idx="0"/>
              <a:endCxn id="23" idx="4"/>
            </p:cNvCxnSpPr>
            <p:nvPr/>
          </p:nvCxnSpPr>
          <p:spPr>
            <a:xfrm flipV="1">
              <a:off x="2387314" y="4374960"/>
              <a:ext cx="1928366" cy="933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Conector recto de flecha 4101">
              <a:extLst>
                <a:ext uri="{FF2B5EF4-FFF2-40B4-BE49-F238E27FC236}">
                  <a16:creationId xmlns:a16="http://schemas.microsoft.com/office/drawing/2014/main" id="{F82D5955-4D2D-6D10-2F66-59BEA568E050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2387314" y="4353239"/>
              <a:ext cx="3125831" cy="9549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Conector recto de flecha 4107">
              <a:extLst>
                <a:ext uri="{FF2B5EF4-FFF2-40B4-BE49-F238E27FC236}">
                  <a16:creationId xmlns:a16="http://schemas.microsoft.com/office/drawing/2014/main" id="{D4002F4E-8AF2-AC17-0F12-91F087B75F58}"/>
                </a:ext>
              </a:extLst>
            </p:cNvPr>
            <p:cNvCxnSpPr>
              <a:stCxn id="14" idx="0"/>
              <a:endCxn id="20" idx="4"/>
            </p:cNvCxnSpPr>
            <p:nvPr/>
          </p:nvCxnSpPr>
          <p:spPr>
            <a:xfrm flipH="1" flipV="1">
              <a:off x="1075213" y="4380154"/>
              <a:ext cx="2489561" cy="927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Conector recto de flecha 4109">
              <a:extLst>
                <a:ext uri="{FF2B5EF4-FFF2-40B4-BE49-F238E27FC236}">
                  <a16:creationId xmlns:a16="http://schemas.microsoft.com/office/drawing/2014/main" id="{D48CAE73-CDF1-469E-3540-A421C13FA061}"/>
                </a:ext>
              </a:extLst>
            </p:cNvPr>
            <p:cNvCxnSpPr>
              <a:stCxn id="14" idx="0"/>
              <a:endCxn id="21" idx="4"/>
            </p:cNvCxnSpPr>
            <p:nvPr/>
          </p:nvCxnSpPr>
          <p:spPr>
            <a:xfrm flipH="1" flipV="1">
              <a:off x="2222777" y="4380154"/>
              <a:ext cx="1341997" cy="927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Conector recto de flecha 4111">
              <a:extLst>
                <a:ext uri="{FF2B5EF4-FFF2-40B4-BE49-F238E27FC236}">
                  <a16:creationId xmlns:a16="http://schemas.microsoft.com/office/drawing/2014/main" id="{FC13F093-7DF5-3CE2-1683-6633ACF84888}"/>
                </a:ext>
              </a:extLst>
            </p:cNvPr>
            <p:cNvCxnSpPr>
              <a:stCxn id="14" idx="0"/>
              <a:endCxn id="22" idx="4"/>
            </p:cNvCxnSpPr>
            <p:nvPr/>
          </p:nvCxnSpPr>
          <p:spPr>
            <a:xfrm flipH="1" flipV="1">
              <a:off x="3289710" y="4390149"/>
              <a:ext cx="275064" cy="917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4" name="Conector recto de flecha 4113">
              <a:extLst>
                <a:ext uri="{FF2B5EF4-FFF2-40B4-BE49-F238E27FC236}">
                  <a16:creationId xmlns:a16="http://schemas.microsoft.com/office/drawing/2014/main" id="{7610DBE1-89A6-4FF7-97DB-948DFCF23EC1}"/>
                </a:ext>
              </a:extLst>
            </p:cNvPr>
            <p:cNvCxnSpPr>
              <a:stCxn id="14" idx="0"/>
              <a:endCxn id="23" idx="4"/>
            </p:cNvCxnSpPr>
            <p:nvPr/>
          </p:nvCxnSpPr>
          <p:spPr>
            <a:xfrm flipV="1">
              <a:off x="3564774" y="4374960"/>
              <a:ext cx="750906" cy="933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5" name="Conector recto de flecha 4114">
              <a:extLst>
                <a:ext uri="{FF2B5EF4-FFF2-40B4-BE49-F238E27FC236}">
                  <a16:creationId xmlns:a16="http://schemas.microsoft.com/office/drawing/2014/main" id="{77A92E5B-B459-5514-5F04-E59E6783BC7F}"/>
                </a:ext>
              </a:extLst>
            </p:cNvPr>
            <p:cNvCxnSpPr>
              <a:stCxn id="14" idx="0"/>
              <a:endCxn id="24" idx="4"/>
            </p:cNvCxnSpPr>
            <p:nvPr/>
          </p:nvCxnSpPr>
          <p:spPr>
            <a:xfrm flipV="1">
              <a:off x="3564774" y="4385563"/>
              <a:ext cx="1858528" cy="9225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9" name="Conector recto de flecha 4118">
              <a:extLst>
                <a:ext uri="{FF2B5EF4-FFF2-40B4-BE49-F238E27FC236}">
                  <a16:creationId xmlns:a16="http://schemas.microsoft.com/office/drawing/2014/main" id="{4826C56B-C63A-50B9-B544-5C2AA622415B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1184019" y="4408725"/>
              <a:ext cx="3637512" cy="9393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Conector recto de flecha 4122">
              <a:extLst>
                <a:ext uri="{FF2B5EF4-FFF2-40B4-BE49-F238E27FC236}">
                  <a16:creationId xmlns:a16="http://schemas.microsoft.com/office/drawing/2014/main" id="{E00153F5-1586-389B-07BC-C969FD7C47EA}"/>
                </a:ext>
              </a:extLst>
            </p:cNvPr>
            <p:cNvCxnSpPr>
              <a:stCxn id="15" idx="0"/>
              <a:endCxn id="21" idx="4"/>
            </p:cNvCxnSpPr>
            <p:nvPr/>
          </p:nvCxnSpPr>
          <p:spPr>
            <a:xfrm flipH="1" flipV="1">
              <a:off x="2222777" y="4380154"/>
              <a:ext cx="2598754" cy="967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Conector recto de flecha 4124">
              <a:extLst>
                <a:ext uri="{FF2B5EF4-FFF2-40B4-BE49-F238E27FC236}">
                  <a16:creationId xmlns:a16="http://schemas.microsoft.com/office/drawing/2014/main" id="{32A76647-0BD3-4CB7-16DC-436CBE346E59}"/>
                </a:ext>
              </a:extLst>
            </p:cNvPr>
            <p:cNvCxnSpPr>
              <a:stCxn id="15" idx="0"/>
              <a:endCxn id="22" idx="4"/>
            </p:cNvCxnSpPr>
            <p:nvPr/>
          </p:nvCxnSpPr>
          <p:spPr>
            <a:xfrm flipH="1" flipV="1">
              <a:off x="3289710" y="4390149"/>
              <a:ext cx="1531821" cy="9579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Conector recto de flecha 4126">
              <a:extLst>
                <a:ext uri="{FF2B5EF4-FFF2-40B4-BE49-F238E27FC236}">
                  <a16:creationId xmlns:a16="http://schemas.microsoft.com/office/drawing/2014/main" id="{06719B1C-6C05-7E65-15E2-9BB02F263DEB}"/>
                </a:ext>
              </a:extLst>
            </p:cNvPr>
            <p:cNvCxnSpPr>
              <a:stCxn id="15" idx="0"/>
              <a:endCxn id="23" idx="4"/>
            </p:cNvCxnSpPr>
            <p:nvPr/>
          </p:nvCxnSpPr>
          <p:spPr>
            <a:xfrm flipH="1" flipV="1">
              <a:off x="4315680" y="4374960"/>
              <a:ext cx="505851" cy="973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Conector recto de flecha 4128">
              <a:extLst>
                <a:ext uri="{FF2B5EF4-FFF2-40B4-BE49-F238E27FC236}">
                  <a16:creationId xmlns:a16="http://schemas.microsoft.com/office/drawing/2014/main" id="{09A2A307-B139-33D5-8F3F-D40FB6EC843F}"/>
                </a:ext>
              </a:extLst>
            </p:cNvPr>
            <p:cNvCxnSpPr>
              <a:stCxn id="15" idx="0"/>
              <a:endCxn id="24" idx="4"/>
            </p:cNvCxnSpPr>
            <p:nvPr/>
          </p:nvCxnSpPr>
          <p:spPr>
            <a:xfrm flipV="1">
              <a:off x="4821531" y="4385563"/>
              <a:ext cx="601771" cy="962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Conector recto de flecha 4130">
              <a:extLst>
                <a:ext uri="{FF2B5EF4-FFF2-40B4-BE49-F238E27FC236}">
                  <a16:creationId xmlns:a16="http://schemas.microsoft.com/office/drawing/2014/main" id="{F430FA51-EDCA-B797-7512-E663B389C688}"/>
                </a:ext>
              </a:extLst>
            </p:cNvPr>
            <p:cNvCxnSpPr>
              <a:endCxn id="26" idx="4"/>
            </p:cNvCxnSpPr>
            <p:nvPr/>
          </p:nvCxnSpPr>
          <p:spPr>
            <a:xfrm flipV="1">
              <a:off x="3254962" y="3032771"/>
              <a:ext cx="569699" cy="7154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Conector recto de flecha 4131">
              <a:extLst>
                <a:ext uri="{FF2B5EF4-FFF2-40B4-BE49-F238E27FC236}">
                  <a16:creationId xmlns:a16="http://schemas.microsoft.com/office/drawing/2014/main" id="{E50EAFBB-4561-3F74-D4B7-886FA779D98E}"/>
                </a:ext>
              </a:extLst>
            </p:cNvPr>
            <p:cNvCxnSpPr>
              <a:stCxn id="20" idx="0"/>
              <a:endCxn id="26" idx="4"/>
            </p:cNvCxnSpPr>
            <p:nvPr/>
          </p:nvCxnSpPr>
          <p:spPr>
            <a:xfrm flipV="1">
              <a:off x="1075213" y="3032771"/>
              <a:ext cx="2749448" cy="7068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5" name="Conector recto de flecha 4134">
              <a:extLst>
                <a:ext uri="{FF2B5EF4-FFF2-40B4-BE49-F238E27FC236}">
                  <a16:creationId xmlns:a16="http://schemas.microsoft.com/office/drawing/2014/main" id="{730D7576-7979-E64C-0B81-0CEA1C6BB12C}"/>
                </a:ext>
              </a:extLst>
            </p:cNvPr>
            <p:cNvCxnSpPr>
              <a:endCxn id="26" idx="4"/>
            </p:cNvCxnSpPr>
            <p:nvPr/>
          </p:nvCxnSpPr>
          <p:spPr>
            <a:xfrm flipV="1">
              <a:off x="2302476" y="3032771"/>
              <a:ext cx="1522185" cy="7089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Conector recto de flecha 4136">
              <a:extLst>
                <a:ext uri="{FF2B5EF4-FFF2-40B4-BE49-F238E27FC236}">
                  <a16:creationId xmlns:a16="http://schemas.microsoft.com/office/drawing/2014/main" id="{70ECC85C-B1F4-BDC3-E415-9CE0D97E2480}"/>
                </a:ext>
              </a:extLst>
            </p:cNvPr>
            <p:cNvCxnSpPr>
              <a:endCxn id="25" idx="4"/>
            </p:cNvCxnSpPr>
            <p:nvPr/>
          </p:nvCxnSpPr>
          <p:spPr>
            <a:xfrm flipH="1" flipV="1">
              <a:off x="2270895" y="2995236"/>
              <a:ext cx="74045" cy="7682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Conector recto de flecha 4140">
              <a:extLst>
                <a:ext uri="{FF2B5EF4-FFF2-40B4-BE49-F238E27FC236}">
                  <a16:creationId xmlns:a16="http://schemas.microsoft.com/office/drawing/2014/main" id="{91643D1C-83CB-8570-4CB8-E0BDAFA3860B}"/>
                </a:ext>
              </a:extLst>
            </p:cNvPr>
            <p:cNvCxnSpPr/>
            <p:nvPr/>
          </p:nvCxnSpPr>
          <p:spPr>
            <a:xfrm flipV="1">
              <a:off x="1149258" y="2996156"/>
              <a:ext cx="1195682" cy="7443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Conector recto de flecha 4142">
              <a:extLst>
                <a:ext uri="{FF2B5EF4-FFF2-40B4-BE49-F238E27FC236}">
                  <a16:creationId xmlns:a16="http://schemas.microsoft.com/office/drawing/2014/main" id="{C32D6AE9-5565-A80B-0C2C-EACC89F9FBD7}"/>
                </a:ext>
              </a:extLst>
            </p:cNvPr>
            <p:cNvCxnSpPr>
              <a:stCxn id="22" idx="0"/>
              <a:endCxn id="25" idx="4"/>
            </p:cNvCxnSpPr>
            <p:nvPr/>
          </p:nvCxnSpPr>
          <p:spPr>
            <a:xfrm flipH="1" flipV="1">
              <a:off x="2270895" y="2995236"/>
              <a:ext cx="1018815" cy="7443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6" name="Conector recto de flecha 4145">
              <a:extLst>
                <a:ext uri="{FF2B5EF4-FFF2-40B4-BE49-F238E27FC236}">
                  <a16:creationId xmlns:a16="http://schemas.microsoft.com/office/drawing/2014/main" id="{5AF099A4-79E2-7709-C65A-5E340DB01D1D}"/>
                </a:ext>
              </a:extLst>
            </p:cNvPr>
            <p:cNvCxnSpPr>
              <a:endCxn id="26" idx="4"/>
            </p:cNvCxnSpPr>
            <p:nvPr/>
          </p:nvCxnSpPr>
          <p:spPr>
            <a:xfrm flipH="1" flipV="1">
              <a:off x="3824661" y="3032771"/>
              <a:ext cx="504876" cy="697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8" name="Conector recto de flecha 4147">
              <a:extLst>
                <a:ext uri="{FF2B5EF4-FFF2-40B4-BE49-F238E27FC236}">
                  <a16:creationId xmlns:a16="http://schemas.microsoft.com/office/drawing/2014/main" id="{9C1A5E4D-46F3-7BF9-EB6B-F3346CD69209}"/>
                </a:ext>
              </a:extLst>
            </p:cNvPr>
            <p:cNvCxnSpPr>
              <a:stCxn id="23" idx="0"/>
              <a:endCxn id="25" idx="4"/>
            </p:cNvCxnSpPr>
            <p:nvPr/>
          </p:nvCxnSpPr>
          <p:spPr>
            <a:xfrm flipH="1" flipV="1">
              <a:off x="2270895" y="2995236"/>
              <a:ext cx="2044785" cy="7443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1" name="Conector recto de flecha 4150">
              <a:extLst>
                <a:ext uri="{FF2B5EF4-FFF2-40B4-BE49-F238E27FC236}">
                  <a16:creationId xmlns:a16="http://schemas.microsoft.com/office/drawing/2014/main" id="{16A167FA-48B7-70D7-F089-F5F8A7225D3B}"/>
                </a:ext>
              </a:extLst>
            </p:cNvPr>
            <p:cNvCxnSpPr>
              <a:endCxn id="25" idx="4"/>
            </p:cNvCxnSpPr>
            <p:nvPr/>
          </p:nvCxnSpPr>
          <p:spPr>
            <a:xfrm flipH="1" flipV="1">
              <a:off x="2270895" y="2995236"/>
              <a:ext cx="3172393" cy="7182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3" name="Conector recto de flecha 4152">
              <a:extLst>
                <a:ext uri="{FF2B5EF4-FFF2-40B4-BE49-F238E27FC236}">
                  <a16:creationId xmlns:a16="http://schemas.microsoft.com/office/drawing/2014/main" id="{CC8E2DA9-FA5A-B42C-9F2E-C5B7427DA4EE}"/>
                </a:ext>
              </a:extLst>
            </p:cNvPr>
            <p:cNvCxnSpPr>
              <a:stCxn id="24" idx="0"/>
              <a:endCxn id="26" idx="4"/>
            </p:cNvCxnSpPr>
            <p:nvPr/>
          </p:nvCxnSpPr>
          <p:spPr>
            <a:xfrm flipH="1" flipV="1">
              <a:off x="3824661" y="3032771"/>
              <a:ext cx="1598641" cy="6968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8" name="CuadroTexto 4157">
              <a:extLst>
                <a:ext uri="{FF2B5EF4-FFF2-40B4-BE49-F238E27FC236}">
                  <a16:creationId xmlns:a16="http://schemas.microsoft.com/office/drawing/2014/main" id="{28989A6D-AC88-C2C9-744F-51012AB32B6E}"/>
                </a:ext>
              </a:extLst>
            </p:cNvPr>
            <p:cNvSpPr txBox="1"/>
            <p:nvPr/>
          </p:nvSpPr>
          <p:spPr>
            <a:xfrm>
              <a:off x="5407771" y="5340465"/>
              <a:ext cx="10365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Capa de entrada</a:t>
              </a:r>
              <a:endParaRPr lang="es-CO" dirty="0"/>
            </a:p>
          </p:txBody>
        </p:sp>
        <p:sp>
          <p:nvSpPr>
            <p:cNvPr id="4160" name="CuadroTexto 4159">
              <a:extLst>
                <a:ext uri="{FF2B5EF4-FFF2-40B4-BE49-F238E27FC236}">
                  <a16:creationId xmlns:a16="http://schemas.microsoft.com/office/drawing/2014/main" id="{106D707B-5C90-41E9-234D-AF76C71BD228}"/>
                </a:ext>
              </a:extLst>
            </p:cNvPr>
            <p:cNvSpPr txBox="1"/>
            <p:nvPr/>
          </p:nvSpPr>
          <p:spPr>
            <a:xfrm>
              <a:off x="4485561" y="2347825"/>
              <a:ext cx="10365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Capa de Salida</a:t>
              </a:r>
              <a:endParaRPr lang="es-CO" dirty="0"/>
            </a:p>
          </p:txBody>
        </p:sp>
        <p:cxnSp>
          <p:nvCxnSpPr>
            <p:cNvPr id="4162" name="Conector recto de flecha 4161">
              <a:extLst>
                <a:ext uri="{FF2B5EF4-FFF2-40B4-BE49-F238E27FC236}">
                  <a16:creationId xmlns:a16="http://schemas.microsoft.com/office/drawing/2014/main" id="{5AEBBFC9-2671-E9CC-B64B-79CD91CC470E}"/>
                </a:ext>
              </a:extLst>
            </p:cNvPr>
            <p:cNvCxnSpPr>
              <a:stCxn id="25" idx="0"/>
            </p:cNvCxnSpPr>
            <p:nvPr/>
          </p:nvCxnSpPr>
          <p:spPr>
            <a:xfrm flipV="1">
              <a:off x="2270895" y="1906407"/>
              <a:ext cx="0" cy="4382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3" name="Conector recto de flecha 4162">
              <a:extLst>
                <a:ext uri="{FF2B5EF4-FFF2-40B4-BE49-F238E27FC236}">
                  <a16:creationId xmlns:a16="http://schemas.microsoft.com/office/drawing/2014/main" id="{EF4569C3-C5A6-0954-E23E-05079B85D490}"/>
                </a:ext>
              </a:extLst>
            </p:cNvPr>
            <p:cNvCxnSpPr/>
            <p:nvPr/>
          </p:nvCxnSpPr>
          <p:spPr>
            <a:xfrm flipV="1">
              <a:off x="3819260" y="1906407"/>
              <a:ext cx="0" cy="4737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6" name="Abrir llave 4165">
              <a:extLst>
                <a:ext uri="{FF2B5EF4-FFF2-40B4-BE49-F238E27FC236}">
                  <a16:creationId xmlns:a16="http://schemas.microsoft.com/office/drawing/2014/main" id="{A9A5A703-6F63-1E56-ACD1-B417B95C1B4D}"/>
                </a:ext>
              </a:extLst>
            </p:cNvPr>
            <p:cNvSpPr/>
            <p:nvPr/>
          </p:nvSpPr>
          <p:spPr>
            <a:xfrm rot="5400000">
              <a:off x="2868652" y="705360"/>
              <a:ext cx="440742" cy="183369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8" name="CuadroTexto 4167">
                  <a:extLst>
                    <a:ext uri="{FF2B5EF4-FFF2-40B4-BE49-F238E27FC236}">
                      <a16:creationId xmlns:a16="http://schemas.microsoft.com/office/drawing/2014/main" id="{FA3DDD90-7FBE-3053-01C0-66A69B61E1FA}"/>
                    </a:ext>
                  </a:extLst>
                </p:cNvPr>
                <p:cNvSpPr txBox="1"/>
                <p:nvPr/>
              </p:nvSpPr>
              <p:spPr>
                <a:xfrm>
                  <a:off x="2893775" y="1109127"/>
                  <a:ext cx="843006" cy="3767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CO" sz="1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8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oMath>
                    </m:oMathPara>
                  </a14:m>
                  <a:endParaRPr lang="es-CO" b="1" dirty="0"/>
                </a:p>
              </p:txBody>
            </p:sp>
          </mc:Choice>
          <mc:Fallback xmlns="">
            <p:sp>
              <p:nvSpPr>
                <p:cNvPr id="4168" name="CuadroTexto 4167">
                  <a:extLst>
                    <a:ext uri="{FF2B5EF4-FFF2-40B4-BE49-F238E27FC236}">
                      <a16:creationId xmlns:a16="http://schemas.microsoft.com/office/drawing/2014/main" id="{FA3DDD90-7FBE-3053-01C0-66A69B61E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3775" y="1109127"/>
                  <a:ext cx="843006" cy="376770"/>
                </a:xfrm>
                <a:prstGeom prst="rect">
                  <a:avLst/>
                </a:prstGeom>
                <a:blipFill>
                  <a:blip r:embed="rId8"/>
                  <a:stretch>
                    <a:fillRect t="-1639" r="-1087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9" name="CuadroTexto 4168">
                  <a:extLst>
                    <a:ext uri="{FF2B5EF4-FFF2-40B4-BE49-F238E27FC236}">
                      <a16:creationId xmlns:a16="http://schemas.microsoft.com/office/drawing/2014/main" id="{D5522C64-53E0-D494-B837-B9110A4845CA}"/>
                    </a:ext>
                  </a:extLst>
                </p:cNvPr>
                <p:cNvSpPr txBox="1"/>
                <p:nvPr/>
              </p:nvSpPr>
              <p:spPr>
                <a:xfrm>
                  <a:off x="586788" y="5943963"/>
                  <a:ext cx="23564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s-CO" sz="2000" b="1" dirty="0"/>
                </a:p>
              </p:txBody>
            </p:sp>
          </mc:Choice>
          <mc:Fallback xmlns="">
            <p:sp>
              <p:nvSpPr>
                <p:cNvPr id="4169" name="CuadroTexto 4168">
                  <a:extLst>
                    <a:ext uri="{FF2B5EF4-FFF2-40B4-BE49-F238E27FC236}">
                      <a16:creationId xmlns:a16="http://schemas.microsoft.com/office/drawing/2014/main" id="{D5522C64-53E0-D494-B837-B9110A484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88" y="5943963"/>
                  <a:ext cx="235641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23077" r="-25641" b="-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70" name="CuadroTexto 4169">
                  <a:extLst>
                    <a:ext uri="{FF2B5EF4-FFF2-40B4-BE49-F238E27FC236}">
                      <a16:creationId xmlns:a16="http://schemas.microsoft.com/office/drawing/2014/main" id="{8E284AA2-00CE-BF71-F7F0-FC643C1A38D2}"/>
                    </a:ext>
                  </a:extLst>
                </p:cNvPr>
                <p:cNvSpPr txBox="1"/>
                <p:nvPr/>
              </p:nvSpPr>
              <p:spPr>
                <a:xfrm>
                  <a:off x="534901" y="4740433"/>
                  <a:ext cx="525208" cy="3324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4170" name="CuadroTexto 4169">
                  <a:extLst>
                    <a:ext uri="{FF2B5EF4-FFF2-40B4-BE49-F238E27FC236}">
                      <a16:creationId xmlns:a16="http://schemas.microsoft.com/office/drawing/2014/main" id="{8E284AA2-00CE-BF71-F7F0-FC643C1A3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901" y="4740433"/>
                  <a:ext cx="525208" cy="332463"/>
                </a:xfrm>
                <a:prstGeom prst="rect">
                  <a:avLst/>
                </a:prstGeom>
                <a:blipFill>
                  <a:blip r:embed="rId10"/>
                  <a:stretch>
                    <a:fillRect l="-11628" r="-8140" b="-2545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71" name="CuadroTexto 4170">
                  <a:extLst>
                    <a:ext uri="{FF2B5EF4-FFF2-40B4-BE49-F238E27FC236}">
                      <a16:creationId xmlns:a16="http://schemas.microsoft.com/office/drawing/2014/main" id="{DADD455E-09C3-9D80-3728-FF1E4259B505}"/>
                    </a:ext>
                  </a:extLst>
                </p:cNvPr>
                <p:cNvSpPr txBox="1"/>
                <p:nvPr/>
              </p:nvSpPr>
              <p:spPr>
                <a:xfrm>
                  <a:off x="573731" y="3050888"/>
                  <a:ext cx="549574" cy="3324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4171" name="CuadroTexto 4170">
                  <a:extLst>
                    <a:ext uri="{FF2B5EF4-FFF2-40B4-BE49-F238E27FC236}">
                      <a16:creationId xmlns:a16="http://schemas.microsoft.com/office/drawing/2014/main" id="{DADD455E-09C3-9D80-3728-FF1E4259B5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731" y="3050888"/>
                  <a:ext cx="549574" cy="332463"/>
                </a:xfrm>
                <a:prstGeom prst="rect">
                  <a:avLst/>
                </a:prstGeom>
                <a:blipFill>
                  <a:blip r:embed="rId11"/>
                  <a:stretch>
                    <a:fillRect l="-10000" r="-4444" b="-2545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74" name="CuadroTexto 4173">
                <a:extLst>
                  <a:ext uri="{FF2B5EF4-FFF2-40B4-BE49-F238E27FC236}">
                    <a16:creationId xmlns:a16="http://schemas.microsoft.com/office/drawing/2014/main" id="{50320F01-C9DE-31A4-5E82-E0FAD0E5C249}"/>
                  </a:ext>
                </a:extLst>
              </p:cNvPr>
              <p:cNvSpPr txBox="1"/>
              <p:nvPr/>
            </p:nvSpPr>
            <p:spPr>
              <a:xfrm>
                <a:off x="10564805" y="3146717"/>
                <a:ext cx="388055" cy="321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4174" name="CuadroTexto 4173">
                <a:extLst>
                  <a:ext uri="{FF2B5EF4-FFF2-40B4-BE49-F238E27FC236}">
                    <a16:creationId xmlns:a16="http://schemas.microsoft.com/office/drawing/2014/main" id="{50320F01-C9DE-31A4-5E82-E0FAD0E5C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805" y="3146717"/>
                <a:ext cx="388055" cy="321178"/>
              </a:xfrm>
              <a:prstGeom prst="rect">
                <a:avLst/>
              </a:prstGeom>
              <a:blipFill>
                <a:blip r:embed="rId12"/>
                <a:stretch>
                  <a:fillRect l="-14063" r="-6250" b="-132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5" name="CuadroTexto 4174">
                <a:extLst>
                  <a:ext uri="{FF2B5EF4-FFF2-40B4-BE49-F238E27FC236}">
                    <a16:creationId xmlns:a16="http://schemas.microsoft.com/office/drawing/2014/main" id="{83F1B25C-7993-3A93-8FD0-8A9F405A5368}"/>
                  </a:ext>
                </a:extLst>
              </p:cNvPr>
              <p:cNvSpPr txBox="1"/>
              <p:nvPr/>
            </p:nvSpPr>
            <p:spPr>
              <a:xfrm>
                <a:off x="6107931" y="3216013"/>
                <a:ext cx="2614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175" name="CuadroTexto 4174">
                <a:extLst>
                  <a:ext uri="{FF2B5EF4-FFF2-40B4-BE49-F238E27FC236}">
                    <a16:creationId xmlns:a16="http://schemas.microsoft.com/office/drawing/2014/main" id="{83F1B25C-7993-3A93-8FD0-8A9F405A5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31" y="3216013"/>
                <a:ext cx="261482" cy="276999"/>
              </a:xfrm>
              <a:prstGeom prst="rect">
                <a:avLst/>
              </a:prstGeom>
              <a:blipFill>
                <a:blip r:embed="rId13"/>
                <a:stretch>
                  <a:fillRect l="-13953" r="-4651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6" name="CuadroTexto 4175">
                <a:extLst>
                  <a:ext uri="{FF2B5EF4-FFF2-40B4-BE49-F238E27FC236}">
                    <a16:creationId xmlns:a16="http://schemas.microsoft.com/office/drawing/2014/main" id="{7616593A-2010-4F78-8EAE-42862204A1E9}"/>
                  </a:ext>
                </a:extLst>
              </p:cNvPr>
              <p:cNvSpPr txBox="1"/>
              <p:nvPr/>
            </p:nvSpPr>
            <p:spPr>
              <a:xfrm>
                <a:off x="7212122" y="3179146"/>
                <a:ext cx="2668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176" name="CuadroTexto 4175">
                <a:extLst>
                  <a:ext uri="{FF2B5EF4-FFF2-40B4-BE49-F238E27FC236}">
                    <a16:creationId xmlns:a16="http://schemas.microsoft.com/office/drawing/2014/main" id="{7616593A-2010-4F78-8EAE-42862204A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122" y="3179146"/>
                <a:ext cx="266804" cy="276999"/>
              </a:xfrm>
              <a:prstGeom prst="rect">
                <a:avLst/>
              </a:prstGeom>
              <a:blipFill>
                <a:blip r:embed="rId14"/>
                <a:stretch>
                  <a:fillRect l="-11364" r="-9091" b="-1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1167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53A4236-79B4-4F6C-BE9F-CE804E1782F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752600" y="1335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s-CO" sz="3600" b="1" dirty="0">
                <a:solidFill>
                  <a:schemeClr val="accent4">
                    <a:lumMod val="50000"/>
                  </a:schemeClr>
                </a:solidFill>
              </a:rPr>
              <a:t>Perceptron </a:t>
            </a:r>
            <a:r>
              <a:rPr lang="en-CA" altLang="es-CO" sz="3600" b="1" dirty="0" err="1">
                <a:solidFill>
                  <a:schemeClr val="accent4">
                    <a:lumMod val="50000"/>
                  </a:schemeClr>
                </a:solidFill>
              </a:rPr>
              <a:t>multicapas</a:t>
            </a:r>
            <a:endParaRPr lang="en-CA" alt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72837-5366-4CFB-B85B-6F8D746C3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93" y="1115839"/>
            <a:ext cx="6867525" cy="2276475"/>
          </a:xfrm>
          <a:prstGeom prst="rect">
            <a:avLst/>
          </a:prstGeom>
        </p:spPr>
      </p:pic>
      <p:pic>
        <p:nvPicPr>
          <p:cNvPr id="36866" name="Picture 2" descr="What is Out of Bag (OOB) score in Random Forest? - Towards Data ...">
            <a:extLst>
              <a:ext uri="{FF2B5EF4-FFF2-40B4-BE49-F238E27FC236}">
                <a16:creationId xmlns:a16="http://schemas.microsoft.com/office/drawing/2014/main" id="{734C079F-A376-4315-814A-7B97C845A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587" y="4390008"/>
            <a:ext cx="4031667" cy="194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F40CBEC6-D621-4F8F-8E6F-0AE9116BC1DB}"/>
              </a:ext>
            </a:extLst>
          </p:cNvPr>
          <p:cNvSpPr/>
          <p:nvPr/>
        </p:nvSpPr>
        <p:spPr>
          <a:xfrm rot="16200000">
            <a:off x="2717346" y="2523529"/>
            <a:ext cx="457200" cy="3124197"/>
          </a:xfrm>
          <a:prstGeom prst="rightBrace">
            <a:avLst>
              <a:gd name="adj1" fmla="val 8333"/>
              <a:gd name="adj2" fmla="val 51098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5D2531-5948-4D44-ADC9-FE15B039A6E8}"/>
              </a:ext>
            </a:extLst>
          </p:cNvPr>
          <p:cNvSpPr txBox="1"/>
          <p:nvPr/>
        </p:nvSpPr>
        <p:spPr>
          <a:xfrm>
            <a:off x="1822936" y="3159949"/>
            <a:ext cx="1905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  <a:p>
            <a:r>
              <a:rPr lang="en-CA" sz="2000" dirty="0"/>
              <a:t>Entradas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90F986-C5A6-4E46-BB64-BD3573013195}"/>
              </a:ext>
            </a:extLst>
          </p:cNvPr>
          <p:cNvSpPr txBox="1"/>
          <p:nvPr/>
        </p:nvSpPr>
        <p:spPr>
          <a:xfrm>
            <a:off x="4319155" y="3159949"/>
            <a:ext cx="1905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  <a:p>
            <a:r>
              <a:rPr lang="en-CA" sz="2000" dirty="0"/>
              <a:t>Salida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19966C-C3D2-4F46-8F31-108CE8173115}"/>
              </a:ext>
            </a:extLst>
          </p:cNvPr>
          <p:cNvCxnSpPr>
            <a:cxnSpLocks/>
          </p:cNvCxnSpPr>
          <p:nvPr/>
        </p:nvCxnSpPr>
        <p:spPr>
          <a:xfrm>
            <a:off x="4671696" y="3914701"/>
            <a:ext cx="0" cy="40704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">
                <a:extLst>
                  <a:ext uri="{FF2B5EF4-FFF2-40B4-BE49-F238E27FC236}">
                    <a16:creationId xmlns:a16="http://schemas.microsoft.com/office/drawing/2014/main" id="{65D4B62C-CA2E-6F16-D9DC-EAB0C63DB13B}"/>
                  </a:ext>
                </a:extLst>
              </p:cNvPr>
              <p:cNvSpPr txBox="1"/>
              <p:nvPr/>
            </p:nvSpPr>
            <p:spPr>
              <a:xfrm>
                <a:off x="5867400" y="4901866"/>
                <a:ext cx="4506083" cy="8402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s-CO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CO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CO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O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s-CO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CO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CO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s-CO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sz="2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s-CO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CO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s-CO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sz="2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3" name="TextBox 4">
                <a:extLst>
                  <a:ext uri="{FF2B5EF4-FFF2-40B4-BE49-F238E27FC236}">
                    <a16:creationId xmlns:a16="http://schemas.microsoft.com/office/drawing/2014/main" id="{65D4B62C-CA2E-6F16-D9DC-EAB0C63DB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4901866"/>
                <a:ext cx="4506083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EB9B01CE-9994-078F-16A7-CB8D612430EB}"/>
              </a:ext>
            </a:extLst>
          </p:cNvPr>
          <p:cNvSpPr txBox="1"/>
          <p:nvPr/>
        </p:nvSpPr>
        <p:spPr>
          <a:xfrm>
            <a:off x="5985467" y="4189953"/>
            <a:ext cx="531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También se basa en el descenso por el gradiente:</a:t>
            </a:r>
            <a:endParaRPr lang="es-CO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BA09EB-E950-50C8-ACFC-5AAD67D7BC85}"/>
              </a:ext>
            </a:extLst>
          </p:cNvPr>
          <p:cNvSpPr txBox="1"/>
          <p:nvPr/>
        </p:nvSpPr>
        <p:spPr>
          <a:xfrm>
            <a:off x="6096000" y="5869298"/>
            <a:ext cx="553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minimiza el MSE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9F1E7E9-1649-7C31-0913-8A88C313BD29}"/>
                  </a:ext>
                </a:extLst>
              </p:cNvPr>
              <p:cNvSpPr txBox="1"/>
              <p:nvPr/>
            </p:nvSpPr>
            <p:spPr>
              <a:xfrm>
                <a:off x="735801" y="4901866"/>
                <a:ext cx="563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9F1E7E9-1649-7C31-0913-8A88C313B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1" y="4901866"/>
                <a:ext cx="563552" cy="276999"/>
              </a:xfrm>
              <a:prstGeom prst="rect">
                <a:avLst/>
              </a:prstGeom>
              <a:blipFill>
                <a:blip r:embed="rId5"/>
                <a:stretch>
                  <a:fillRect l="-9783" r="-9783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7F174FB-30EE-A2BF-D8B9-B3A1F71B4BB9}"/>
                  </a:ext>
                </a:extLst>
              </p:cNvPr>
              <p:cNvSpPr txBox="1"/>
              <p:nvPr/>
            </p:nvSpPr>
            <p:spPr>
              <a:xfrm>
                <a:off x="666103" y="5961631"/>
                <a:ext cx="6332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7F174FB-30EE-A2BF-D8B9-B3A1F71B4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03" y="5961631"/>
                <a:ext cx="633250" cy="276999"/>
              </a:xfrm>
              <a:prstGeom prst="rect">
                <a:avLst/>
              </a:prstGeom>
              <a:blipFill>
                <a:blip r:embed="rId6"/>
                <a:stretch>
                  <a:fillRect l="-8654" r="-4808" b="-88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334D8FB9-2154-9ACB-7AAF-3B0790EE4D0A}"/>
              </a:ext>
            </a:extLst>
          </p:cNvPr>
          <p:cNvSpPr txBox="1"/>
          <p:nvPr/>
        </p:nvSpPr>
        <p:spPr>
          <a:xfrm>
            <a:off x="954241" y="5078047"/>
            <a:ext cx="112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.</a:t>
            </a:r>
          </a:p>
          <a:p>
            <a:r>
              <a:rPr lang="es-ES" dirty="0"/>
              <a:t>.</a:t>
            </a:r>
          </a:p>
          <a:p>
            <a:r>
              <a:rPr lang="es-ES" dirty="0"/>
              <a:t>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F0C62AD-3F1F-9904-9049-BDD703D83899}"/>
                  </a:ext>
                </a:extLst>
              </p:cNvPr>
              <p:cNvSpPr txBox="1"/>
              <p:nvPr/>
            </p:nvSpPr>
            <p:spPr>
              <a:xfrm>
                <a:off x="2945946" y="2512094"/>
                <a:ext cx="11462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F0C62AD-3F1F-9904-9049-BDD703D83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46" y="2512094"/>
                <a:ext cx="1146211" cy="276999"/>
              </a:xfrm>
              <a:prstGeom prst="rect">
                <a:avLst/>
              </a:prstGeom>
              <a:blipFill>
                <a:blip r:embed="rId7"/>
                <a:stretch>
                  <a:fillRect l="-4787" r="-2660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FDBE4E3-B4FD-6CD7-172A-CF0AF9466103}"/>
                  </a:ext>
                </a:extLst>
              </p:cNvPr>
              <p:cNvSpPr txBox="1"/>
              <p:nvPr/>
            </p:nvSpPr>
            <p:spPr>
              <a:xfrm>
                <a:off x="9692710" y="1741251"/>
                <a:ext cx="680773" cy="476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C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FDBE4E3-B4FD-6CD7-172A-CF0AF9466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710" y="1741251"/>
                <a:ext cx="680773" cy="476990"/>
              </a:xfrm>
              <a:prstGeom prst="rect">
                <a:avLst/>
              </a:prstGeom>
              <a:blipFill>
                <a:blip r:embed="rId8"/>
                <a:stretch>
                  <a:fillRect l="-893" r="-11607" b="-102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1416D62-3A68-EC32-B804-1098F2453ECC}"/>
                  </a:ext>
                </a:extLst>
              </p:cNvPr>
              <p:cNvSpPr txBox="1"/>
              <p:nvPr/>
            </p:nvSpPr>
            <p:spPr>
              <a:xfrm flipH="1">
                <a:off x="4882297" y="3952409"/>
                <a:ext cx="27351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1416D62-3A68-EC32-B804-1098F2453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82297" y="3952409"/>
                <a:ext cx="273517" cy="400110"/>
              </a:xfrm>
              <a:prstGeom prst="rect">
                <a:avLst/>
              </a:prstGeom>
              <a:blipFill>
                <a:blip r:embed="rId9"/>
                <a:stretch>
                  <a:fillRect r="-20000" b="-757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9546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0D399-0594-4788-85AC-CD1B57C5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05000"/>
            <a:ext cx="2717222" cy="2057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360AF4-A0F0-4286-867C-A388B3578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135" y="1925782"/>
            <a:ext cx="5667375" cy="358328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8E82AE0-0C07-44A8-97E6-4952F7222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s-CO" sz="3600" b="1" dirty="0">
                <a:solidFill>
                  <a:schemeClr val="accent4">
                    <a:lumMod val="50000"/>
                  </a:schemeClr>
                </a:solidFill>
              </a:rPr>
              <a:t>El </a:t>
            </a:r>
            <a:r>
              <a:rPr lang="en-CA" altLang="es-CO" sz="3600" b="1" dirty="0" err="1">
                <a:solidFill>
                  <a:schemeClr val="accent4">
                    <a:lumMod val="50000"/>
                  </a:schemeClr>
                </a:solidFill>
              </a:rPr>
              <a:t>gradiente</a:t>
            </a:r>
            <a:r>
              <a:rPr lang="en-CA" altLang="es-CO" sz="3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CA" altLang="es-CO" sz="3600" b="1" dirty="0" err="1">
                <a:solidFill>
                  <a:schemeClr val="accent4">
                    <a:lumMod val="50000"/>
                  </a:schemeClr>
                </a:solidFill>
              </a:rPr>
              <a:t>descendiente</a:t>
            </a:r>
            <a:endParaRPr lang="en-CA" alt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019B51-282E-4999-B49A-972560251436}"/>
                  </a:ext>
                </a:extLst>
              </p:cNvPr>
              <p:cNvSpPr txBox="1"/>
              <p:nvPr/>
            </p:nvSpPr>
            <p:spPr>
              <a:xfrm>
                <a:off x="1193222" y="5509062"/>
                <a:ext cx="3352800" cy="702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CO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s-CO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CO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019B51-282E-4999-B49A-972560251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222" y="5509062"/>
                <a:ext cx="3352800" cy="702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5">
                <a:extLst>
                  <a:ext uri="{FF2B5EF4-FFF2-40B4-BE49-F238E27FC236}">
                    <a16:creationId xmlns:a16="http://schemas.microsoft.com/office/drawing/2014/main" id="{581B1707-A171-4E07-BD4B-78755B8B5360}"/>
                  </a:ext>
                </a:extLst>
              </p:cNvPr>
              <p:cNvSpPr txBox="1"/>
              <p:nvPr/>
            </p:nvSpPr>
            <p:spPr>
              <a:xfrm>
                <a:off x="5041783" y="5660642"/>
                <a:ext cx="2877769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O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O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5">
                <a:extLst>
                  <a:ext uri="{FF2B5EF4-FFF2-40B4-BE49-F238E27FC236}">
                    <a16:creationId xmlns:a16="http://schemas.microsoft.com/office/drawing/2014/main" id="{581B1707-A171-4E07-BD4B-78755B8B5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783" y="5660642"/>
                <a:ext cx="2877769" cy="399084"/>
              </a:xfrm>
              <a:prstGeom prst="rect">
                <a:avLst/>
              </a:prstGeom>
              <a:blipFill>
                <a:blip r:embed="rId5"/>
                <a:stretch>
                  <a:fillRect b="-246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190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B2E45-9351-4F89-A5A1-8D2080C92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91" y="47787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Gradiente descendiente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C2F85ED-0F43-4F40-BDB4-E3CEF65D56DA}"/>
                  </a:ext>
                </a:extLst>
              </p:cNvPr>
              <p:cNvSpPr txBox="1"/>
              <p:nvPr/>
            </p:nvSpPr>
            <p:spPr>
              <a:xfrm>
                <a:off x="6495998" y="1467036"/>
                <a:ext cx="3608104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sz="2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CO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C2F85ED-0F43-4F40-BDB4-E3CEF65D5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998" y="1467036"/>
                <a:ext cx="3608104" cy="1008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F4A183D-D92A-7A4A-0442-B5FA5357E6C6}"/>
                  </a:ext>
                </a:extLst>
              </p:cNvPr>
              <p:cNvSpPr txBox="1"/>
              <p:nvPr/>
            </p:nvSpPr>
            <p:spPr>
              <a:xfrm>
                <a:off x="6396228" y="2701714"/>
                <a:ext cx="5276829" cy="10597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𝑗𝑘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sSub>
                                        <m:sSubPr>
                                          <m:ctrlPr>
                                            <a:rPr lang="es-E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F4A183D-D92A-7A4A-0442-B5FA5357E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228" y="2701714"/>
                <a:ext cx="5276829" cy="10597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550B6D2-366C-27FB-D913-C40C73D02345}"/>
                  </a:ext>
                </a:extLst>
              </p:cNvPr>
              <p:cNvSpPr txBox="1"/>
              <p:nvPr/>
            </p:nvSpPr>
            <p:spPr>
              <a:xfrm>
                <a:off x="6577827" y="3935926"/>
                <a:ext cx="2564355" cy="98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𝑙𝑗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550B6D2-366C-27FB-D913-C40C73D02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827" y="3935926"/>
                <a:ext cx="2564355" cy="9819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160F28E-E631-06C5-F9C9-2B4F8E0CA2DF}"/>
                  </a:ext>
                </a:extLst>
              </p:cNvPr>
              <p:cNvSpPr txBox="1"/>
              <p:nvPr/>
            </p:nvSpPr>
            <p:spPr>
              <a:xfrm>
                <a:off x="5050832" y="5094508"/>
                <a:ext cx="6896247" cy="12620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𝑗𝑘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sSub>
                                        <m:sSubPr>
                                          <m:ctrl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pHide m:val="on"/>
                                              <m:ctrlP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E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E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E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𝑙𝑗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  <m:sSub>
                                            <m:sSubPr>
                                              <m:ctrlP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sz="24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160F28E-E631-06C5-F9C9-2B4F8E0CA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832" y="5094508"/>
                <a:ext cx="6896247" cy="12620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o 6">
            <a:extLst>
              <a:ext uri="{FF2B5EF4-FFF2-40B4-BE49-F238E27FC236}">
                <a16:creationId xmlns:a16="http://schemas.microsoft.com/office/drawing/2014/main" id="{22B12FF9-DC79-8972-0218-A39D77F28392}"/>
              </a:ext>
            </a:extLst>
          </p:cNvPr>
          <p:cNvGrpSpPr/>
          <p:nvPr/>
        </p:nvGrpSpPr>
        <p:grpSpPr>
          <a:xfrm>
            <a:off x="618882" y="1531633"/>
            <a:ext cx="5361709" cy="3408092"/>
            <a:chOff x="6338455" y="1373350"/>
            <a:chExt cx="5361709" cy="3408092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AB5BF8F7-73AD-4FBB-80AE-641457191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73995" y="1409503"/>
              <a:ext cx="5264274" cy="3371939"/>
            </a:xfrm>
            <a:prstGeom prst="rect">
              <a:avLst/>
            </a:prstGeom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46B8396-E255-45F7-CAEF-69848D71F6D1}"/>
                </a:ext>
              </a:extLst>
            </p:cNvPr>
            <p:cNvSpPr/>
            <p:nvPr/>
          </p:nvSpPr>
          <p:spPr>
            <a:xfrm>
              <a:off x="6338455" y="1373350"/>
              <a:ext cx="5361709" cy="3406468"/>
            </a:xfrm>
            <a:prstGeom prst="rect">
              <a:avLst/>
            </a:prstGeom>
            <a:noFill/>
            <a:ln w="2540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CE4B2F01-D0C3-D9E1-E856-6D15E6692587}"/>
                  </a:ext>
                </a:extLst>
              </p:cNvPr>
              <p:cNvSpPr txBox="1"/>
              <p:nvPr/>
            </p:nvSpPr>
            <p:spPr>
              <a:xfrm>
                <a:off x="1969078" y="5326367"/>
                <a:ext cx="181338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s-E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s-E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32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s-E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32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CE4B2F01-D0C3-D9E1-E856-6D15E6692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078" y="5326367"/>
                <a:ext cx="181338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277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CE040F51-553B-47EE-8BB7-3DDFB084BC73}"/>
              </a:ext>
            </a:extLst>
          </p:cNvPr>
          <p:cNvSpPr/>
          <p:nvPr/>
        </p:nvSpPr>
        <p:spPr>
          <a:xfrm>
            <a:off x="8680945" y="2286900"/>
            <a:ext cx="3033155" cy="39466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s-ES" sz="2000" dirty="0">
                <a:solidFill>
                  <a:schemeClr val="tx1"/>
                </a:solidFill>
              </a:rPr>
              <a:t>Regla de la cadena:</a:t>
            </a:r>
            <a:endParaRPr lang="es-CO" sz="2000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46D7D2-1D59-4EA8-B85C-659DC9AD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864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 err="1">
                <a:solidFill>
                  <a:schemeClr val="accent4">
                    <a:lumMod val="50000"/>
                  </a:schemeClr>
                </a:solidFill>
              </a:rPr>
              <a:t>Backpropagation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5DA2DABF-E0F2-4BBD-87D9-A83E06F1B91C}"/>
                  </a:ext>
                </a:extLst>
              </p:cNvPr>
              <p:cNvSpPr txBox="1"/>
              <p:nvPr/>
            </p:nvSpPr>
            <p:spPr>
              <a:xfrm>
                <a:off x="949907" y="2806369"/>
                <a:ext cx="4059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/>
                  <a:t>Para actualizar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400" dirty="0"/>
                  <a:t>: </a:t>
                </a:r>
                <a:endParaRPr lang="es-CO" sz="24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5DA2DABF-E0F2-4BBD-87D9-A83E06F1B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07" y="2806369"/>
                <a:ext cx="4059743" cy="461665"/>
              </a:xfrm>
              <a:prstGeom prst="rect">
                <a:avLst/>
              </a:prstGeom>
              <a:blipFill>
                <a:blip r:embed="rId3"/>
                <a:stretch>
                  <a:fillRect l="-2402" t="-10526" b="-289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6C82C34-1729-42A3-B645-F1DE11C979EA}"/>
                  </a:ext>
                </a:extLst>
              </p:cNvPr>
              <p:cNvSpPr txBox="1"/>
              <p:nvPr/>
            </p:nvSpPr>
            <p:spPr>
              <a:xfrm>
                <a:off x="8800972" y="4301048"/>
                <a:ext cx="10665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6C82C34-1729-42A3-B645-F1DE11C97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972" y="4301048"/>
                <a:ext cx="1066574" cy="307777"/>
              </a:xfrm>
              <a:prstGeom prst="rect">
                <a:avLst/>
              </a:prstGeom>
              <a:blipFill>
                <a:blip r:embed="rId4"/>
                <a:stretch>
                  <a:fillRect l="-3429" t="-4000" r="-8000" b="-3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EB234EBB-2FD1-4880-810A-5450A5D7FE0D}"/>
                  </a:ext>
                </a:extLst>
              </p:cNvPr>
              <p:cNvSpPr txBox="1"/>
              <p:nvPr/>
            </p:nvSpPr>
            <p:spPr>
              <a:xfrm>
                <a:off x="8792385" y="5358331"/>
                <a:ext cx="2187650" cy="584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EB234EBB-2FD1-4880-810A-5450A5D7F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385" y="5358331"/>
                <a:ext cx="2187650" cy="5844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B691FFAA-A57E-4557-AB3D-7010EDB73C89}"/>
                  </a:ext>
                </a:extLst>
              </p:cNvPr>
              <p:cNvSpPr txBox="1"/>
              <p:nvPr/>
            </p:nvSpPr>
            <p:spPr>
              <a:xfrm>
                <a:off x="8792385" y="2785463"/>
                <a:ext cx="17783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B691FFAA-A57E-4557-AB3D-7010EDB73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385" y="2785463"/>
                <a:ext cx="1778307" cy="307777"/>
              </a:xfrm>
              <a:prstGeom prst="rect">
                <a:avLst/>
              </a:prstGeom>
              <a:blipFill>
                <a:blip r:embed="rId6"/>
                <a:stretch>
                  <a:fillRect l="-3082" t="-2000" r="-4452" b="-3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4B01081-7919-47A3-8ECD-95F57345DB6B}"/>
                  </a:ext>
                </a:extLst>
              </p:cNvPr>
              <p:cNvSpPr txBox="1"/>
              <p:nvPr/>
            </p:nvSpPr>
            <p:spPr>
              <a:xfrm>
                <a:off x="8800972" y="3842349"/>
                <a:ext cx="10491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4B01081-7919-47A3-8ECD-95F57345D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972" y="3842349"/>
                <a:ext cx="1049198" cy="307777"/>
              </a:xfrm>
              <a:prstGeom prst="rect">
                <a:avLst/>
              </a:prstGeom>
              <a:blipFill>
                <a:blip r:embed="rId7"/>
                <a:stretch>
                  <a:fillRect l="-3488" t="-1961" r="-8140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D179FB9-B61B-7ABC-9C94-7D5E6780FE88}"/>
                  </a:ext>
                </a:extLst>
              </p:cNvPr>
              <p:cNvSpPr txBox="1"/>
              <p:nvPr/>
            </p:nvSpPr>
            <p:spPr>
              <a:xfrm>
                <a:off x="2829058" y="3537450"/>
                <a:ext cx="5801716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D179FB9-B61B-7ABC-9C94-7D5E6780F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058" y="3537450"/>
                <a:ext cx="5801716" cy="6914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7648C1F-9A42-B3C5-AC9B-0821B5DC2F4E}"/>
                  </a:ext>
                </a:extLst>
              </p:cNvPr>
              <p:cNvSpPr txBox="1"/>
              <p:nvPr/>
            </p:nvSpPr>
            <p:spPr>
              <a:xfrm>
                <a:off x="3221866" y="2698139"/>
                <a:ext cx="4032901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7648C1F-9A42-B3C5-AC9B-0821B5DC2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866" y="2698139"/>
                <a:ext cx="4032901" cy="6914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upo 38">
            <a:extLst>
              <a:ext uri="{FF2B5EF4-FFF2-40B4-BE49-F238E27FC236}">
                <a16:creationId xmlns:a16="http://schemas.microsoft.com/office/drawing/2014/main" id="{C0ADB349-A36D-3194-331F-53C8A37F4C0D}"/>
              </a:ext>
            </a:extLst>
          </p:cNvPr>
          <p:cNvGrpSpPr/>
          <p:nvPr/>
        </p:nvGrpSpPr>
        <p:grpSpPr>
          <a:xfrm>
            <a:off x="1130781" y="1472075"/>
            <a:ext cx="7277126" cy="786570"/>
            <a:chOff x="1130781" y="1472075"/>
            <a:chExt cx="7277126" cy="78657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Elipse 3">
                  <a:extLst>
                    <a:ext uri="{FF2B5EF4-FFF2-40B4-BE49-F238E27FC236}">
                      <a16:creationId xmlns:a16="http://schemas.microsoft.com/office/drawing/2014/main" id="{12660FC2-2965-46B7-844F-602BFBF07814}"/>
                    </a:ext>
                  </a:extLst>
                </p:cNvPr>
                <p:cNvSpPr/>
                <p:nvPr/>
              </p:nvSpPr>
              <p:spPr>
                <a:xfrm>
                  <a:off x="1130781" y="1485392"/>
                  <a:ext cx="807868" cy="76348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4" name="Elipse 3">
                  <a:extLst>
                    <a:ext uri="{FF2B5EF4-FFF2-40B4-BE49-F238E27FC236}">
                      <a16:creationId xmlns:a16="http://schemas.microsoft.com/office/drawing/2014/main" id="{12660FC2-2965-46B7-844F-602BFBF078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781" y="1485392"/>
                  <a:ext cx="807868" cy="763480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Elipse 5">
                  <a:extLst>
                    <a:ext uri="{FF2B5EF4-FFF2-40B4-BE49-F238E27FC236}">
                      <a16:creationId xmlns:a16="http://schemas.microsoft.com/office/drawing/2014/main" id="{679322CA-7FB4-4969-95C4-F15879D41FFD}"/>
                    </a:ext>
                  </a:extLst>
                </p:cNvPr>
                <p:cNvSpPr/>
                <p:nvPr/>
              </p:nvSpPr>
              <p:spPr>
                <a:xfrm>
                  <a:off x="3183005" y="1495165"/>
                  <a:ext cx="807868" cy="76348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6" name="Elipse 5">
                  <a:extLst>
                    <a:ext uri="{FF2B5EF4-FFF2-40B4-BE49-F238E27FC236}">
                      <a16:creationId xmlns:a16="http://schemas.microsoft.com/office/drawing/2014/main" id="{679322CA-7FB4-4969-95C4-F15879D41F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3005" y="1495165"/>
                  <a:ext cx="807868" cy="763480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7CF38122-D912-4AE2-8E9A-B67D9DE2F156}"/>
                </a:ext>
              </a:extLst>
            </p:cNvPr>
            <p:cNvCxnSpPr>
              <a:stCxn id="4" idx="6"/>
              <a:endCxn id="6" idx="2"/>
            </p:cNvCxnSpPr>
            <p:nvPr/>
          </p:nvCxnSpPr>
          <p:spPr>
            <a:xfrm>
              <a:off x="1938649" y="1867132"/>
              <a:ext cx="1244356" cy="977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096BEA2B-5E79-497B-A27E-7E27ADC56865}"/>
                    </a:ext>
                  </a:extLst>
                </p:cNvPr>
                <p:cNvSpPr txBox="1"/>
                <p:nvPr/>
              </p:nvSpPr>
              <p:spPr>
                <a:xfrm>
                  <a:off x="1994477" y="1485392"/>
                  <a:ext cx="107426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s-E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096BEA2B-5E79-497B-A27E-7E27ADC56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4477" y="1485392"/>
                  <a:ext cx="1074268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3409" r="-1705" b="-15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Elipse 11">
                  <a:extLst>
                    <a:ext uri="{FF2B5EF4-FFF2-40B4-BE49-F238E27FC236}">
                      <a16:creationId xmlns:a16="http://schemas.microsoft.com/office/drawing/2014/main" id="{63726F62-019F-40F9-897C-2A5E43600DD9}"/>
                    </a:ext>
                  </a:extLst>
                </p:cNvPr>
                <p:cNvSpPr/>
                <p:nvPr/>
              </p:nvSpPr>
              <p:spPr>
                <a:xfrm>
                  <a:off x="5325982" y="1472984"/>
                  <a:ext cx="807868" cy="76348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12" name="Elipse 11">
                  <a:extLst>
                    <a:ext uri="{FF2B5EF4-FFF2-40B4-BE49-F238E27FC236}">
                      <a16:creationId xmlns:a16="http://schemas.microsoft.com/office/drawing/2014/main" id="{63726F62-019F-40F9-897C-2A5E43600D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5982" y="1472984"/>
                  <a:ext cx="807868" cy="763480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D0380481-C1D2-44B2-A2C2-70CB97C4FCC7}"/>
                    </a:ext>
                  </a:extLst>
                </p:cNvPr>
                <p:cNvSpPr txBox="1"/>
                <p:nvPr/>
              </p:nvSpPr>
              <p:spPr>
                <a:xfrm>
                  <a:off x="4119438" y="1488079"/>
                  <a:ext cx="106247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s-E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D0380481-C1D2-44B2-A2C2-70CB97C4F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9438" y="1488079"/>
                  <a:ext cx="1062470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4023" r="-1724" b="-1311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E938D74F-904C-43CE-A09A-5417A1BE34CA}"/>
                </a:ext>
              </a:extLst>
            </p:cNvPr>
            <p:cNvCxnSpPr>
              <a:cxnSpLocks/>
            </p:cNvCxnSpPr>
            <p:nvPr/>
          </p:nvCxnSpPr>
          <p:spPr>
            <a:xfrm>
              <a:off x="6142230" y="1878700"/>
              <a:ext cx="1333131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6E1F8833-0EF8-4AE0-98CE-19150DD6AB59}"/>
                </a:ext>
              </a:extLst>
            </p:cNvPr>
            <p:cNvCxnSpPr>
              <a:cxnSpLocks/>
            </p:cNvCxnSpPr>
            <p:nvPr/>
          </p:nvCxnSpPr>
          <p:spPr>
            <a:xfrm>
              <a:off x="4001231" y="1878700"/>
              <a:ext cx="1333131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C397E8D3-014C-46B4-B47C-AED1BD39C969}"/>
                    </a:ext>
                  </a:extLst>
                </p:cNvPr>
                <p:cNvSpPr txBox="1"/>
                <p:nvPr/>
              </p:nvSpPr>
              <p:spPr>
                <a:xfrm>
                  <a:off x="7649686" y="1670058"/>
                  <a:ext cx="75822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2400" b="1" dirty="0"/>
                </a:p>
              </p:txBody>
            </p:sp>
          </mc:Choice>
          <mc:Fallback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C397E8D3-014C-46B4-B47C-AED1BD39C9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9686" y="1670058"/>
                  <a:ext cx="758221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12903" r="-13710" b="-32787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FDCC66B2-8210-593D-DBA5-92CAD1323375}"/>
                    </a:ext>
                  </a:extLst>
                </p:cNvPr>
                <p:cNvSpPr txBox="1"/>
                <p:nvPr/>
              </p:nvSpPr>
              <p:spPr>
                <a:xfrm>
                  <a:off x="6370485" y="1472075"/>
                  <a:ext cx="558511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FDCC66B2-8210-593D-DBA5-92CAD1323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485" y="1472075"/>
                  <a:ext cx="558511" cy="471539"/>
                </a:xfrm>
                <a:prstGeom prst="rect">
                  <a:avLst/>
                </a:prstGeom>
                <a:blipFill>
                  <a:blip r:embed="rId16"/>
                  <a:stretch>
                    <a:fillRect t="-5128" r="-1739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1AD28D3-80F4-3F32-E4E5-D94FA6358E11}"/>
              </a:ext>
            </a:extLst>
          </p:cNvPr>
          <p:cNvCxnSpPr>
            <a:cxnSpLocks/>
          </p:cNvCxnSpPr>
          <p:nvPr/>
        </p:nvCxnSpPr>
        <p:spPr>
          <a:xfrm>
            <a:off x="3729205" y="2806369"/>
            <a:ext cx="0" cy="14587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1D6EF48-D5BF-C0EE-199B-B5EFD08C74B1}"/>
                  </a:ext>
                </a:extLst>
              </p:cNvPr>
              <p:cNvSpPr txBox="1"/>
              <p:nvPr/>
            </p:nvSpPr>
            <p:spPr>
              <a:xfrm>
                <a:off x="952581" y="3501223"/>
                <a:ext cx="1781257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1D6EF48-D5BF-C0EE-199B-B5EFD08C7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81" y="3501223"/>
                <a:ext cx="1781257" cy="76392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A35E3005-26F0-1E6C-2381-857C6F41B339}"/>
                  </a:ext>
                </a:extLst>
              </p:cNvPr>
              <p:cNvSpPr txBox="1"/>
              <p:nvPr/>
            </p:nvSpPr>
            <p:spPr>
              <a:xfrm>
                <a:off x="8792385" y="3313906"/>
                <a:ext cx="22365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A35E3005-26F0-1E6C-2381-857C6F41B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385" y="3313906"/>
                <a:ext cx="2236510" cy="307777"/>
              </a:xfrm>
              <a:prstGeom prst="rect">
                <a:avLst/>
              </a:prstGeom>
              <a:blipFill>
                <a:blip r:embed="rId18"/>
                <a:stretch>
                  <a:fillRect l="-1090" r="-2180" b="-3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153E5762-FA4B-0541-ACA9-03294CF94CA0}"/>
                  </a:ext>
                </a:extLst>
              </p:cNvPr>
              <p:cNvSpPr txBox="1"/>
              <p:nvPr/>
            </p:nvSpPr>
            <p:spPr>
              <a:xfrm>
                <a:off x="8800972" y="4759747"/>
                <a:ext cx="10665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153E5762-FA4B-0541-ACA9-03294CF94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972" y="4759747"/>
                <a:ext cx="1066574" cy="307777"/>
              </a:xfrm>
              <a:prstGeom prst="rect">
                <a:avLst/>
              </a:prstGeom>
              <a:blipFill>
                <a:blip r:embed="rId19"/>
                <a:stretch>
                  <a:fillRect l="-4571" t="-2000" r="-7429" b="-3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418F777-3732-7F52-6A4A-CE52D15CB12A}"/>
                  </a:ext>
                </a:extLst>
              </p:cNvPr>
              <p:cNvSpPr txBox="1"/>
              <p:nvPr/>
            </p:nvSpPr>
            <p:spPr>
              <a:xfrm>
                <a:off x="91434" y="4544562"/>
                <a:ext cx="5475248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418F777-3732-7F52-6A4A-CE52D15CB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4" y="4544562"/>
                <a:ext cx="5475248" cy="53476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50EFFF5C-8AE9-ADF1-64C5-4401D2AC10CD}"/>
                  </a:ext>
                </a:extLst>
              </p:cNvPr>
              <p:cNvSpPr txBox="1"/>
              <p:nvPr/>
            </p:nvSpPr>
            <p:spPr>
              <a:xfrm>
                <a:off x="858604" y="5347048"/>
                <a:ext cx="5283626" cy="947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CO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den>
                      </m:f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s-E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num>
                        <m:den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E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50EFFF5C-8AE9-ADF1-64C5-4401D2AC1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04" y="5347048"/>
                <a:ext cx="5283626" cy="9478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657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B4A08AB-C6D0-E84F-ED77-5A461DD287AD}"/>
                  </a:ext>
                </a:extLst>
              </p:cNvPr>
              <p:cNvSpPr txBox="1"/>
              <p:nvPr/>
            </p:nvSpPr>
            <p:spPr>
              <a:xfrm>
                <a:off x="791696" y="663502"/>
                <a:ext cx="4059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/>
                  <a:t>Para actualizar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400" dirty="0"/>
                  <a:t>: </a:t>
                </a:r>
                <a:endParaRPr lang="es-CO" sz="24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B4A08AB-C6D0-E84F-ED77-5A461DD28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6" y="663502"/>
                <a:ext cx="4059743" cy="461665"/>
              </a:xfrm>
              <a:prstGeom prst="rect">
                <a:avLst/>
              </a:prstGeom>
              <a:blipFill>
                <a:blip r:embed="rId2"/>
                <a:stretch>
                  <a:fillRect l="-2402" t="-10526" b="-289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C565545-4A14-FA02-6DB4-C67DD6ABBE0D}"/>
                  </a:ext>
                </a:extLst>
              </p:cNvPr>
              <p:cNvSpPr txBox="1"/>
              <p:nvPr/>
            </p:nvSpPr>
            <p:spPr>
              <a:xfrm>
                <a:off x="646731" y="2589872"/>
                <a:ext cx="4524572" cy="816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C565545-4A14-FA02-6DB4-C67DD6ABB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31" y="2589872"/>
                <a:ext cx="4524572" cy="8168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BDD5AD1-9A21-3818-0D6C-8C8AEF0110C2}"/>
                  </a:ext>
                </a:extLst>
              </p:cNvPr>
              <p:cNvSpPr txBox="1"/>
              <p:nvPr/>
            </p:nvSpPr>
            <p:spPr>
              <a:xfrm>
                <a:off x="791696" y="1399516"/>
                <a:ext cx="4524572" cy="812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CO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BDD5AD1-9A21-3818-0D6C-8C8AEF011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6" y="1399516"/>
                <a:ext cx="4524572" cy="8125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DFD6F54-8B1A-2C7D-A296-75BEB051A56C}"/>
                  </a:ext>
                </a:extLst>
              </p:cNvPr>
              <p:cNvSpPr txBox="1"/>
              <p:nvPr/>
            </p:nvSpPr>
            <p:spPr>
              <a:xfrm>
                <a:off x="646731" y="3888988"/>
                <a:ext cx="2274889" cy="81682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s-CO" sz="2400" b="1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DFD6F54-8B1A-2C7D-A296-75BEB051A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31" y="3888988"/>
                <a:ext cx="2274889" cy="8168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74B0E4C7-4EDD-79E6-0CB5-3D15578F1CA7}"/>
                  </a:ext>
                </a:extLst>
              </p:cNvPr>
              <p:cNvSpPr/>
              <p:nvPr/>
            </p:nvSpPr>
            <p:spPr>
              <a:xfrm>
                <a:off x="8539975" y="199970"/>
                <a:ext cx="3289609" cy="124968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CO" sz="2000" dirty="0">
                    <a:solidFill>
                      <a:schemeClr val="tx1"/>
                    </a:solidFill>
                  </a:rPr>
                  <a:t>Derivada de una potencia: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000" i="1" smtClean="0">
                              <a:solidFill>
                                <a:schemeClr val="tx1"/>
                              </a:solidFill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</a:rPr>
                            <m:t>𝑑</m:t>
                          </m:r>
                        </m:num>
                        <m:den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s-CO" sz="2000" i="1" smtClean="0">
                              <a:solidFill>
                                <a:schemeClr val="tx1"/>
                              </a:solidFill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2000" i="1" smtClean="0">
                                  <a:solidFill>
                                    <a:schemeClr val="tx1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</a:rPr>
                                <m:t>𝑓</m:t>
                              </m:r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</a:rPr>
                                <m:t>(</m:t>
                              </m:r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</a:rPr>
                                <m:t>𝑥</m:t>
                              </m:r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</a:rPr>
                            <m:t>2</m:t>
                          </m:r>
                        </m:sup>
                      </m:sSup>
                      <m:r>
                        <a:rPr lang="es-ES" sz="2000" b="0" i="1" smtClean="0">
                          <a:solidFill>
                            <a:schemeClr val="tx1"/>
                          </a:solidFill>
                        </a:rPr>
                        <m:t>=2</m:t>
                      </m:r>
                      <m:r>
                        <a:rPr lang="es-ES" sz="2000" b="0" i="1" smtClean="0">
                          <a:solidFill>
                            <a:schemeClr val="tx1"/>
                          </a:solidFill>
                        </a:rPr>
                        <m:t>𝑓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es-CO" sz="2000" i="1">
                              <a:solidFill>
                                <a:schemeClr val="tx1"/>
                              </a:solidFill>
                            </a:rPr>
                          </m:ctrlPr>
                        </m:fPr>
                        <m:num>
                          <m:r>
                            <a:rPr lang="es-ES" sz="2000" i="1">
                              <a:solidFill>
                                <a:schemeClr val="tx1"/>
                              </a:solidFill>
                            </a:rPr>
                            <m:t>𝑑</m:t>
                          </m:r>
                        </m:num>
                        <m:den>
                          <m:r>
                            <a:rPr lang="es-ES" sz="2000" i="1">
                              <a:solidFill>
                                <a:schemeClr val="tx1"/>
                              </a:solidFill>
                            </a:rPr>
                            <m:t>𝑑𝑥</m:t>
                          </m:r>
                        </m:den>
                      </m:f>
                      <m:r>
                        <a:rPr lang="es-ES" sz="2000" b="0" i="1" smtClean="0">
                          <a:solidFill>
                            <a:schemeClr val="tx1"/>
                          </a:solidFill>
                        </a:rPr>
                        <m:t>𝑓</m:t>
                      </m:r>
                      <m:r>
                        <a:rPr lang="es-ES" sz="2000" b="0" i="1" smtClean="0">
                          <a:solidFill>
                            <a:schemeClr val="tx1"/>
                          </a:solidFill>
                        </a:rPr>
                        <m:t>(</m:t>
                      </m:r>
                      <m:r>
                        <a:rPr lang="es-ES" sz="2000" b="0" i="1" smtClean="0">
                          <a:solidFill>
                            <a:schemeClr val="tx1"/>
                          </a:solidFill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schemeClr val="tx1"/>
                          </a:solidFill>
                        </a:rPr>
                        <m:t>)</m:t>
                      </m:r>
                    </m:oMath>
                  </m:oMathPara>
                </a14:m>
                <a:endParaRPr lang="es-CO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74B0E4C7-4EDD-79E6-0CB5-3D15578F1C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975" y="199970"/>
                <a:ext cx="3289609" cy="1249688"/>
              </a:xfrm>
              <a:prstGeom prst="rect">
                <a:avLst/>
              </a:prstGeom>
              <a:blipFill>
                <a:blip r:embed="rId6"/>
                <a:stretch>
                  <a:fillRect l="-20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F48E71D-BE72-944D-06AB-9BB3ADBF0EE6}"/>
              </a:ext>
            </a:extLst>
          </p:cNvPr>
          <p:cNvCxnSpPr>
            <a:cxnSpLocks/>
          </p:cNvCxnSpPr>
          <p:nvPr/>
        </p:nvCxnSpPr>
        <p:spPr>
          <a:xfrm>
            <a:off x="5586761" y="1216209"/>
            <a:ext cx="0" cy="36345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DBC0F20-4178-2540-D72C-2653C68B28B5}"/>
                  </a:ext>
                </a:extLst>
              </p:cNvPr>
              <p:cNvSpPr txBox="1"/>
              <p:nvPr/>
            </p:nvSpPr>
            <p:spPr>
              <a:xfrm>
                <a:off x="5791165" y="2183607"/>
                <a:ext cx="2460738" cy="81253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DBC0F20-4178-2540-D72C-2653C68B2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65" y="2183607"/>
                <a:ext cx="2460738" cy="8125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C408664-5B72-53E5-0152-687E1111D6CE}"/>
                  </a:ext>
                </a:extLst>
              </p:cNvPr>
              <p:cNvSpPr txBox="1"/>
              <p:nvPr/>
            </p:nvSpPr>
            <p:spPr>
              <a:xfrm>
                <a:off x="5857255" y="1426575"/>
                <a:ext cx="1822678" cy="3792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C408664-5B72-53E5-0152-687E1111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255" y="1426575"/>
                <a:ext cx="1822678" cy="379206"/>
              </a:xfrm>
              <a:prstGeom prst="rect">
                <a:avLst/>
              </a:prstGeom>
              <a:blipFill>
                <a:blip r:embed="rId8"/>
                <a:stretch>
                  <a:fillRect l="-3679" t="-17742" r="-5351" b="-3548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C860EB-6766-F9F6-3F96-155AF0DC9AC1}"/>
              </a:ext>
            </a:extLst>
          </p:cNvPr>
          <p:cNvCxnSpPr/>
          <p:nvPr/>
        </p:nvCxnSpPr>
        <p:spPr>
          <a:xfrm>
            <a:off x="5586761" y="3523788"/>
            <a:ext cx="438242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2876D98-D72F-C3BC-829C-3527F15107F8}"/>
                  </a:ext>
                </a:extLst>
              </p:cNvPr>
              <p:cNvSpPr txBox="1"/>
              <p:nvPr/>
            </p:nvSpPr>
            <p:spPr>
              <a:xfrm>
                <a:off x="5791165" y="3850773"/>
                <a:ext cx="2224207" cy="85504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2876D98-D72F-C3BC-829C-3527F1510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65" y="3850773"/>
                <a:ext cx="2224207" cy="855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B2C938B-5E11-63B5-040A-993A69629053}"/>
                  </a:ext>
                </a:extLst>
              </p:cNvPr>
              <p:cNvSpPr txBox="1"/>
              <p:nvPr/>
            </p:nvSpPr>
            <p:spPr>
              <a:xfrm>
                <a:off x="1260068" y="5333069"/>
                <a:ext cx="9378196" cy="68454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s-CO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C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C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8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sSubSup>
                      <m:sSubSupPr>
                        <m:ctrlP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8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</m:oMath>
                </a14:m>
                <a:r>
                  <a:rPr lang="es-E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CO" sz="280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B2C938B-5E11-63B5-040A-993A69629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68" y="5333069"/>
                <a:ext cx="9378196" cy="6845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434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E8C6-6920-7153-8D44-0C8DF9972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D2707C2-3128-EF92-2F0D-400165F0ABC2}"/>
                  </a:ext>
                </a:extLst>
              </p:cNvPr>
              <p:cNvSpPr txBox="1"/>
              <p:nvPr/>
            </p:nvSpPr>
            <p:spPr>
              <a:xfrm>
                <a:off x="791696" y="663502"/>
                <a:ext cx="4059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/>
                  <a:t>Para actualizar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400" dirty="0"/>
                  <a:t>: </a:t>
                </a:r>
                <a:endParaRPr lang="es-CO" sz="24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D2707C2-3128-EF92-2F0D-400165F0A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6" y="663502"/>
                <a:ext cx="4059743" cy="461665"/>
              </a:xfrm>
              <a:prstGeom prst="rect">
                <a:avLst/>
              </a:prstGeom>
              <a:blipFill>
                <a:blip r:embed="rId2"/>
                <a:stretch>
                  <a:fillRect l="-2402" t="-10526" b="-289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6C79453-F818-AC3D-9CD5-647945D6B2A6}"/>
                  </a:ext>
                </a:extLst>
              </p:cNvPr>
              <p:cNvSpPr txBox="1"/>
              <p:nvPr/>
            </p:nvSpPr>
            <p:spPr>
              <a:xfrm>
                <a:off x="767168" y="3436634"/>
                <a:ext cx="6881243" cy="723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s-CO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CO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CO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num>
                      <m:den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s-E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s-E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s-E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s-E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s-CO" sz="28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6C79453-F818-AC3D-9CD5-647945D6B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68" y="3436634"/>
                <a:ext cx="6881243" cy="723660"/>
              </a:xfrm>
              <a:prstGeom prst="rect">
                <a:avLst/>
              </a:prstGeom>
              <a:blipFill>
                <a:blip r:embed="rId3"/>
                <a:stretch>
                  <a:fillRect l="-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o 1">
            <a:extLst>
              <a:ext uri="{FF2B5EF4-FFF2-40B4-BE49-F238E27FC236}">
                <a16:creationId xmlns:a16="http://schemas.microsoft.com/office/drawing/2014/main" id="{A15551B5-ACCB-4BB9-3974-346CDBA442E4}"/>
              </a:ext>
            </a:extLst>
          </p:cNvPr>
          <p:cNvGrpSpPr/>
          <p:nvPr/>
        </p:nvGrpSpPr>
        <p:grpSpPr>
          <a:xfrm>
            <a:off x="787567" y="1431686"/>
            <a:ext cx="7277126" cy="786570"/>
            <a:chOff x="1130781" y="1472075"/>
            <a:chExt cx="7277126" cy="78657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Elipse 2">
                  <a:extLst>
                    <a:ext uri="{FF2B5EF4-FFF2-40B4-BE49-F238E27FC236}">
                      <a16:creationId xmlns:a16="http://schemas.microsoft.com/office/drawing/2014/main" id="{273D7FB6-8460-014A-A55E-5FC80614BB74}"/>
                    </a:ext>
                  </a:extLst>
                </p:cNvPr>
                <p:cNvSpPr/>
                <p:nvPr/>
              </p:nvSpPr>
              <p:spPr>
                <a:xfrm>
                  <a:off x="1130781" y="1485392"/>
                  <a:ext cx="807868" cy="76348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3" name="Elipse 2">
                  <a:extLst>
                    <a:ext uri="{FF2B5EF4-FFF2-40B4-BE49-F238E27FC236}">
                      <a16:creationId xmlns:a16="http://schemas.microsoft.com/office/drawing/2014/main" id="{273D7FB6-8460-014A-A55E-5FC80614BB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781" y="1485392"/>
                  <a:ext cx="807868" cy="76348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Elipse 5">
                  <a:extLst>
                    <a:ext uri="{FF2B5EF4-FFF2-40B4-BE49-F238E27FC236}">
                      <a16:creationId xmlns:a16="http://schemas.microsoft.com/office/drawing/2014/main" id="{D686690A-534B-2CCF-CE00-A35B9E252CD7}"/>
                    </a:ext>
                  </a:extLst>
                </p:cNvPr>
                <p:cNvSpPr/>
                <p:nvPr/>
              </p:nvSpPr>
              <p:spPr>
                <a:xfrm>
                  <a:off x="3183005" y="1495165"/>
                  <a:ext cx="807868" cy="76348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6" name="Elipse 5">
                  <a:extLst>
                    <a:ext uri="{FF2B5EF4-FFF2-40B4-BE49-F238E27FC236}">
                      <a16:creationId xmlns:a16="http://schemas.microsoft.com/office/drawing/2014/main" id="{D686690A-534B-2CCF-CE00-A35B9E252C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3005" y="1495165"/>
                  <a:ext cx="807868" cy="76348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9C9B54AA-9DF1-8CDA-F415-616C880367E5}"/>
                </a:ext>
              </a:extLst>
            </p:cNvPr>
            <p:cNvCxnSpPr>
              <a:stCxn id="3" idx="6"/>
              <a:endCxn id="6" idx="2"/>
            </p:cNvCxnSpPr>
            <p:nvPr/>
          </p:nvCxnSpPr>
          <p:spPr>
            <a:xfrm>
              <a:off x="1938649" y="1867132"/>
              <a:ext cx="1244356" cy="977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EB2850AF-4AC4-A86C-4693-E99743A2EA75}"/>
                    </a:ext>
                  </a:extLst>
                </p:cNvPr>
                <p:cNvSpPr txBox="1"/>
                <p:nvPr/>
              </p:nvSpPr>
              <p:spPr>
                <a:xfrm>
                  <a:off x="1994477" y="1485392"/>
                  <a:ext cx="107426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s-E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EB2850AF-4AC4-A86C-4693-E99743A2E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4477" y="1485392"/>
                  <a:ext cx="1074268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977" r="-1705" b="-1311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61A23D78-E706-A572-B108-6EE0B84B2293}"/>
                    </a:ext>
                  </a:extLst>
                </p:cNvPr>
                <p:cNvSpPr/>
                <p:nvPr/>
              </p:nvSpPr>
              <p:spPr>
                <a:xfrm>
                  <a:off x="5325982" y="1472984"/>
                  <a:ext cx="807868" cy="76348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61A23D78-E706-A572-B108-6EE0B84B22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5982" y="1472984"/>
                  <a:ext cx="807868" cy="76348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9ACDEF4F-FBF1-E41B-B272-8A3A6008ADEE}"/>
                    </a:ext>
                  </a:extLst>
                </p:cNvPr>
                <p:cNvSpPr txBox="1"/>
                <p:nvPr/>
              </p:nvSpPr>
              <p:spPr>
                <a:xfrm>
                  <a:off x="4119438" y="1488079"/>
                  <a:ext cx="106247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s-E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9ACDEF4F-FBF1-E41B-B272-8A3A6008A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9438" y="1488079"/>
                  <a:ext cx="106247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429" r="-1143" b="-1311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F8A3F891-DC5E-4323-B272-0BB97050FEE6}"/>
                </a:ext>
              </a:extLst>
            </p:cNvPr>
            <p:cNvCxnSpPr>
              <a:cxnSpLocks/>
            </p:cNvCxnSpPr>
            <p:nvPr/>
          </p:nvCxnSpPr>
          <p:spPr>
            <a:xfrm>
              <a:off x="6142230" y="1878700"/>
              <a:ext cx="1333131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EC957620-D1EC-E39E-E655-456833CA2326}"/>
                </a:ext>
              </a:extLst>
            </p:cNvPr>
            <p:cNvCxnSpPr>
              <a:cxnSpLocks/>
            </p:cNvCxnSpPr>
            <p:nvPr/>
          </p:nvCxnSpPr>
          <p:spPr>
            <a:xfrm>
              <a:off x="4001231" y="1878700"/>
              <a:ext cx="1333131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D418EBE1-B888-0B18-11FB-43D17979EDDA}"/>
                    </a:ext>
                  </a:extLst>
                </p:cNvPr>
                <p:cNvSpPr txBox="1"/>
                <p:nvPr/>
              </p:nvSpPr>
              <p:spPr>
                <a:xfrm>
                  <a:off x="7649686" y="1670058"/>
                  <a:ext cx="75822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2400" b="1" dirty="0"/>
                </a:p>
              </p:txBody>
            </p:sp>
          </mc:Choice>
          <mc:Fallback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D418EBE1-B888-0B18-11FB-43D17979E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9686" y="1670058"/>
                  <a:ext cx="758221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2903" r="-13710" b="-3442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36ACCC4E-D002-9176-99CF-219FFA25ED97}"/>
                    </a:ext>
                  </a:extLst>
                </p:cNvPr>
                <p:cNvSpPr txBox="1"/>
                <p:nvPr/>
              </p:nvSpPr>
              <p:spPr>
                <a:xfrm>
                  <a:off x="6370485" y="1472075"/>
                  <a:ext cx="558511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36ACCC4E-D002-9176-99CF-219FFA25E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485" y="1472075"/>
                  <a:ext cx="558511" cy="471539"/>
                </a:xfrm>
                <a:prstGeom prst="rect">
                  <a:avLst/>
                </a:prstGeom>
                <a:blipFill>
                  <a:blip r:embed="rId10"/>
                  <a:stretch>
                    <a:fillRect t="-5195" r="-1758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4F15BE3-AE94-4B11-9439-FEF4BF888C22}"/>
                  </a:ext>
                </a:extLst>
              </p:cNvPr>
              <p:cNvSpPr txBox="1"/>
              <p:nvPr/>
            </p:nvSpPr>
            <p:spPr>
              <a:xfrm>
                <a:off x="786908" y="2524775"/>
                <a:ext cx="9121698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s-C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4F15BE3-AE94-4B11-9439-FEF4BF888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08" y="2524775"/>
                <a:ext cx="9121698" cy="5347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1887211-4856-8912-D007-1E0B0978626A}"/>
                  </a:ext>
                </a:extLst>
              </p:cNvPr>
              <p:cNvSpPr txBox="1"/>
              <p:nvPr/>
            </p:nvSpPr>
            <p:spPr>
              <a:xfrm>
                <a:off x="9017977" y="1454776"/>
                <a:ext cx="1781257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1887211-4856-8912-D007-1E0B09786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977" y="1454776"/>
                <a:ext cx="1781257" cy="76392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uadroTexto 26">
            <a:extLst>
              <a:ext uri="{FF2B5EF4-FFF2-40B4-BE49-F238E27FC236}">
                <a16:creationId xmlns:a16="http://schemas.microsoft.com/office/drawing/2014/main" id="{68FDEF87-A6FE-3965-4D2B-D9963FC829B7}"/>
              </a:ext>
            </a:extLst>
          </p:cNvPr>
          <p:cNvSpPr txBox="1"/>
          <p:nvPr/>
        </p:nvSpPr>
        <p:spPr>
          <a:xfrm>
            <a:off x="4282068" y="3237920"/>
            <a:ext cx="3579542" cy="1147233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327BC92-CC38-D199-687F-DA308D8BBED7}"/>
                  </a:ext>
                </a:extLst>
              </p:cNvPr>
              <p:cNvSpPr txBox="1"/>
              <p:nvPr/>
            </p:nvSpPr>
            <p:spPr>
              <a:xfrm>
                <a:off x="891369" y="5021560"/>
                <a:ext cx="1645579" cy="76270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327BC92-CC38-D199-687F-DA308D8BB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9" y="5021560"/>
                <a:ext cx="1645579" cy="7627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44B5F93-3920-FADF-8F3E-26A6B2DB7901}"/>
              </a:ext>
            </a:extLst>
          </p:cNvPr>
          <p:cNvCxnSpPr/>
          <p:nvPr/>
        </p:nvCxnSpPr>
        <p:spPr>
          <a:xfrm>
            <a:off x="2938873" y="4683512"/>
            <a:ext cx="0" cy="169498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C1745F5E-1450-03BC-796F-560D28200A18}"/>
              </a:ext>
            </a:extLst>
          </p:cNvPr>
          <p:cNvCxnSpPr/>
          <p:nvPr/>
        </p:nvCxnSpPr>
        <p:spPr>
          <a:xfrm>
            <a:off x="579900" y="4683512"/>
            <a:ext cx="1089474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FC71C0E-C8DC-5F0F-E940-D15E8F60C382}"/>
                  </a:ext>
                </a:extLst>
              </p:cNvPr>
              <p:cNvSpPr txBox="1"/>
              <p:nvPr/>
            </p:nvSpPr>
            <p:spPr>
              <a:xfrm>
                <a:off x="3243725" y="4989040"/>
                <a:ext cx="4226542" cy="76392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FC71C0E-C8DC-5F0F-E940-D15E8F60C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725" y="4989040"/>
                <a:ext cx="4226542" cy="76392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ED5F4054-C3B0-BD2B-4F18-A1433D42D4F2}"/>
              </a:ext>
            </a:extLst>
          </p:cNvPr>
          <p:cNvCxnSpPr/>
          <p:nvPr/>
        </p:nvCxnSpPr>
        <p:spPr>
          <a:xfrm>
            <a:off x="7819390" y="4683512"/>
            <a:ext cx="0" cy="169498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3F4138C-8549-1C16-B58A-6BD92B9BFD3B}"/>
                  </a:ext>
                </a:extLst>
              </p:cNvPr>
              <p:cNvSpPr txBox="1"/>
              <p:nvPr/>
            </p:nvSpPr>
            <p:spPr>
              <a:xfrm>
                <a:off x="8221316" y="4990258"/>
                <a:ext cx="1593321" cy="76270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3F4138C-8549-1C16-B58A-6BD92B9BF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316" y="4990258"/>
                <a:ext cx="1593321" cy="76270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6614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21620-77A4-848B-C7A8-824810BD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1D63EAC-EE64-8C03-0A8B-6386CA5A199F}"/>
                  </a:ext>
                </a:extLst>
              </p:cNvPr>
              <p:cNvSpPr txBox="1"/>
              <p:nvPr/>
            </p:nvSpPr>
            <p:spPr>
              <a:xfrm>
                <a:off x="791696" y="663502"/>
                <a:ext cx="4059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/>
                  <a:t>Para actualizar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400" dirty="0"/>
                  <a:t>: </a:t>
                </a:r>
                <a:endParaRPr lang="es-CO" sz="24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1D63EAC-EE64-8C03-0A8B-6386CA5A1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6" y="663502"/>
                <a:ext cx="4059743" cy="461665"/>
              </a:xfrm>
              <a:prstGeom prst="rect">
                <a:avLst/>
              </a:prstGeom>
              <a:blipFill>
                <a:blip r:embed="rId2"/>
                <a:stretch>
                  <a:fillRect l="-2402" t="-10526" b="-289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6F56877-A407-16FF-8EB7-44E34DC884EC}"/>
                  </a:ext>
                </a:extLst>
              </p:cNvPr>
              <p:cNvSpPr txBox="1"/>
              <p:nvPr/>
            </p:nvSpPr>
            <p:spPr>
              <a:xfrm>
                <a:off x="791696" y="2452917"/>
                <a:ext cx="6881243" cy="723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CO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CO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CO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num>
                      <m:den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s-E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s-E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s-E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s-E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s-CO" sz="28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6F56877-A407-16FF-8EB7-44E34DC88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6" y="2452917"/>
                <a:ext cx="6881243" cy="723660"/>
              </a:xfrm>
              <a:prstGeom prst="rect">
                <a:avLst/>
              </a:prstGeom>
              <a:blipFill>
                <a:blip r:embed="rId3"/>
                <a:stretch>
                  <a:fillRect l="-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7B9D3BB-77E2-0E44-4307-4FB982E0F290}"/>
                  </a:ext>
                </a:extLst>
              </p:cNvPr>
              <p:cNvSpPr txBox="1"/>
              <p:nvPr/>
            </p:nvSpPr>
            <p:spPr>
              <a:xfrm>
                <a:off x="823529" y="1359686"/>
                <a:ext cx="1781257" cy="763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7B9D3BB-77E2-0E44-4307-4FB982E0F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29" y="1359686"/>
                <a:ext cx="1781257" cy="7639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E3272FF-AB00-5DA1-A9E8-FAC0DA4F5AD6}"/>
                  </a:ext>
                </a:extLst>
              </p:cNvPr>
              <p:cNvSpPr txBox="1"/>
              <p:nvPr/>
            </p:nvSpPr>
            <p:spPr>
              <a:xfrm>
                <a:off x="687618" y="3825272"/>
                <a:ext cx="6881243" cy="684546"/>
              </a:xfrm>
              <a:prstGeom prst="rect">
                <a:avLst/>
              </a:prstGeom>
              <a:noFill/>
              <a:ln w="22225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s-CO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CO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CO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8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m:rPr>
                        <m:nor/>
                      </m:rPr>
                      <a:rPr lang="es-ES" sz="2800" dirty="0"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CO" sz="28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E3272FF-AB00-5DA1-A9E8-FAC0DA4F5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18" y="3825272"/>
                <a:ext cx="6881243" cy="6845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22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948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8810A75-B632-81B8-1E2B-D93C519A4AAA}"/>
              </a:ext>
            </a:extLst>
          </p:cNvPr>
          <p:cNvSpPr txBox="1"/>
          <p:nvPr/>
        </p:nvSpPr>
        <p:spPr>
          <a:xfrm>
            <a:off x="687854" y="448974"/>
            <a:ext cx="4059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Ejemplo:</a:t>
            </a:r>
            <a:endParaRPr lang="es-CO" sz="240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1D21DE9-A2C7-70AE-E7CC-34DC0FF68EDE}"/>
              </a:ext>
            </a:extLst>
          </p:cNvPr>
          <p:cNvGrpSpPr/>
          <p:nvPr/>
        </p:nvGrpSpPr>
        <p:grpSpPr>
          <a:xfrm>
            <a:off x="709510" y="1220723"/>
            <a:ext cx="6771490" cy="785661"/>
            <a:chOff x="1130781" y="1472984"/>
            <a:chExt cx="6771490" cy="78566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Elipse 5">
                  <a:extLst>
                    <a:ext uri="{FF2B5EF4-FFF2-40B4-BE49-F238E27FC236}">
                      <a16:creationId xmlns:a16="http://schemas.microsoft.com/office/drawing/2014/main" id="{8D60E0E4-B912-77E1-A11E-8AFBB1D0A46E}"/>
                    </a:ext>
                  </a:extLst>
                </p:cNvPr>
                <p:cNvSpPr/>
                <p:nvPr/>
              </p:nvSpPr>
              <p:spPr>
                <a:xfrm>
                  <a:off x="1130781" y="1485392"/>
                  <a:ext cx="807868" cy="76348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6" name="Elipse 5">
                  <a:extLst>
                    <a:ext uri="{FF2B5EF4-FFF2-40B4-BE49-F238E27FC236}">
                      <a16:creationId xmlns:a16="http://schemas.microsoft.com/office/drawing/2014/main" id="{8D60E0E4-B912-77E1-A11E-8AFBB1D0A4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781" y="1485392"/>
                  <a:ext cx="807868" cy="76348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Elipse 6">
                  <a:extLst>
                    <a:ext uri="{FF2B5EF4-FFF2-40B4-BE49-F238E27FC236}">
                      <a16:creationId xmlns:a16="http://schemas.microsoft.com/office/drawing/2014/main" id="{5456028B-5594-2359-CDB6-5DD85CBCE026}"/>
                    </a:ext>
                  </a:extLst>
                </p:cNvPr>
                <p:cNvSpPr/>
                <p:nvPr/>
              </p:nvSpPr>
              <p:spPr>
                <a:xfrm>
                  <a:off x="3183005" y="1495165"/>
                  <a:ext cx="807868" cy="76348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7" name="Elipse 6">
                  <a:extLst>
                    <a:ext uri="{FF2B5EF4-FFF2-40B4-BE49-F238E27FC236}">
                      <a16:creationId xmlns:a16="http://schemas.microsoft.com/office/drawing/2014/main" id="{5456028B-5594-2359-CDB6-5DD85CBCE0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3005" y="1495165"/>
                  <a:ext cx="807868" cy="76348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84D8EF80-0B3A-1512-27BB-83623B3BBEB0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1938649" y="1867132"/>
              <a:ext cx="1244356" cy="977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A530CCFF-E279-5FA0-A8D1-7FD38B08993B}"/>
                    </a:ext>
                  </a:extLst>
                </p:cNvPr>
                <p:cNvSpPr txBox="1"/>
                <p:nvPr/>
              </p:nvSpPr>
              <p:spPr>
                <a:xfrm>
                  <a:off x="1994477" y="1485392"/>
                  <a:ext cx="107426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s-E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A530CCFF-E279-5FA0-A8D1-7FD38B089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4477" y="1485392"/>
                  <a:ext cx="107426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409" r="-1705" b="-1311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6F49490D-5D7D-F8BE-630C-25BBBAD8AA53}"/>
                    </a:ext>
                  </a:extLst>
                </p:cNvPr>
                <p:cNvSpPr/>
                <p:nvPr/>
              </p:nvSpPr>
              <p:spPr>
                <a:xfrm>
                  <a:off x="5325982" y="1472984"/>
                  <a:ext cx="807868" cy="76348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6F49490D-5D7D-F8BE-630C-25BBBAD8AA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5982" y="1472984"/>
                  <a:ext cx="807868" cy="76348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01382A27-CC97-2FCB-B671-957C71305FC7}"/>
                    </a:ext>
                  </a:extLst>
                </p:cNvPr>
                <p:cNvSpPr txBox="1"/>
                <p:nvPr/>
              </p:nvSpPr>
              <p:spPr>
                <a:xfrm>
                  <a:off x="4119438" y="1488079"/>
                  <a:ext cx="106247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s-E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01382A27-CC97-2FCB-B671-957C71305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9438" y="1488079"/>
                  <a:ext cx="106247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4023" r="-1724" b="-15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D1DFE89D-EA4B-5071-EE90-6D180D188829}"/>
                </a:ext>
              </a:extLst>
            </p:cNvPr>
            <p:cNvCxnSpPr>
              <a:cxnSpLocks/>
            </p:cNvCxnSpPr>
            <p:nvPr/>
          </p:nvCxnSpPr>
          <p:spPr>
            <a:xfrm>
              <a:off x="6142230" y="1878700"/>
              <a:ext cx="891716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DA1BEAAE-26BB-4132-86AF-842F523C751C}"/>
                </a:ext>
              </a:extLst>
            </p:cNvPr>
            <p:cNvCxnSpPr>
              <a:cxnSpLocks/>
            </p:cNvCxnSpPr>
            <p:nvPr/>
          </p:nvCxnSpPr>
          <p:spPr>
            <a:xfrm>
              <a:off x="4001231" y="1878700"/>
              <a:ext cx="1333131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55D9A869-840C-5EB0-0DDC-735414A6C713}"/>
                    </a:ext>
                  </a:extLst>
                </p:cNvPr>
                <p:cNvSpPr txBox="1"/>
                <p:nvPr/>
              </p:nvSpPr>
              <p:spPr>
                <a:xfrm>
                  <a:off x="7144050" y="1682466"/>
                  <a:ext cx="75822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s-E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2400" b="1" dirty="0"/>
                </a:p>
              </p:txBody>
            </p:sp>
          </mc:Choice>
          <mc:Fallback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55D9A869-840C-5EB0-0DDC-735414A6C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4050" y="1682466"/>
                  <a:ext cx="758221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2903" r="-13710" b="-35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C55134EA-BBCF-EC15-1591-B0BEE2F80046}"/>
                    </a:ext>
                  </a:extLst>
                </p:cNvPr>
                <p:cNvSpPr txBox="1"/>
                <p:nvPr/>
              </p:nvSpPr>
              <p:spPr>
                <a:xfrm>
                  <a:off x="6181655" y="1472984"/>
                  <a:ext cx="558511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oMath>
                    </m:oMathPara>
                  </a14:m>
                  <a:endParaRPr lang="es-CO" sz="2400" dirty="0"/>
                </a:p>
              </p:txBody>
            </p:sp>
          </mc:Choice>
          <mc:Fallback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C55134EA-BBCF-EC15-1591-B0BEE2F80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1655" y="1472984"/>
                  <a:ext cx="558511" cy="471539"/>
                </a:xfrm>
                <a:prstGeom prst="rect">
                  <a:avLst/>
                </a:prstGeom>
                <a:blipFill>
                  <a:blip r:embed="rId9"/>
                  <a:stretch>
                    <a:fillRect t="-5128" r="-163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35359371-D474-5E12-DB22-F2F00A8E6B74}"/>
                  </a:ext>
                </a:extLst>
              </p:cNvPr>
              <p:cNvSpPr txBox="1"/>
              <p:nvPr/>
            </p:nvSpPr>
            <p:spPr>
              <a:xfrm>
                <a:off x="7780673" y="802888"/>
                <a:ext cx="4059743" cy="300838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4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4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4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𝜼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400" b="1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" sz="24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b="1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35359371-D474-5E12-DB22-F2F00A8E6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673" y="802888"/>
                <a:ext cx="4059743" cy="3008388"/>
              </a:xfrm>
              <a:prstGeom prst="rect">
                <a:avLst/>
              </a:prstGeom>
              <a:blipFill>
                <a:blip r:embed="rId10"/>
                <a:stretch>
                  <a:fillRect b="-181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F754FFC-42EB-1C30-8964-2B4FDA5EAFD1}"/>
                  </a:ext>
                </a:extLst>
              </p:cNvPr>
              <p:cNvSpPr txBox="1"/>
              <p:nvPr/>
            </p:nvSpPr>
            <p:spPr>
              <a:xfrm>
                <a:off x="3526758" y="2332695"/>
                <a:ext cx="1769139" cy="3792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m:rPr>
                              <m:nor/>
                            </m:rPr>
                            <a:rPr lang="es-CO" sz="2400" b="1" dirty="0"/>
                            <m:t> </m:t>
                          </m:r>
                        </m:e>
                      </m:acc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𝟓𝟔𝟏𝟗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F754FFC-42EB-1C30-8964-2B4FDA5EA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758" y="2332695"/>
                <a:ext cx="1769139" cy="379206"/>
              </a:xfrm>
              <a:prstGeom prst="rect">
                <a:avLst/>
              </a:prstGeom>
              <a:blipFill>
                <a:blip r:embed="rId11"/>
                <a:stretch>
                  <a:fillRect l="-3793" t="-19355" r="-3793" b="-806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E5FB6A5-6A33-1F53-9743-0AC5B6A685DB}"/>
                  </a:ext>
                </a:extLst>
              </p:cNvPr>
              <p:cNvSpPr txBox="1"/>
              <p:nvPr/>
            </p:nvSpPr>
            <p:spPr>
              <a:xfrm>
                <a:off x="687854" y="2906859"/>
                <a:ext cx="4388445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1−0,5619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=0,0959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E5FB6A5-6A33-1F53-9743-0AC5B6A68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54" y="2906859"/>
                <a:ext cx="4388445" cy="6914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B4D9DDD-A02B-834D-4154-46344BF2EA5A}"/>
                  </a:ext>
                </a:extLst>
              </p:cNvPr>
              <p:cNvSpPr txBox="1"/>
              <p:nvPr/>
            </p:nvSpPr>
            <p:spPr>
              <a:xfrm>
                <a:off x="619547" y="4674521"/>
                <a:ext cx="9378196" cy="7639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CO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B4D9DDD-A02B-834D-4154-46344BF2E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47" y="4674521"/>
                <a:ext cx="9378196" cy="763927"/>
              </a:xfrm>
              <a:prstGeom prst="rect">
                <a:avLst/>
              </a:prstGeom>
              <a:blipFill>
                <a:blip r:embed="rId13"/>
                <a:stretch>
                  <a:fillRect l="-6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70A027B-00F8-4FF5-74D5-BEC61E35C240}"/>
                  </a:ext>
                </a:extLst>
              </p:cNvPr>
              <p:cNvSpPr txBox="1"/>
              <p:nvPr/>
            </p:nvSpPr>
            <p:spPr>
              <a:xfrm>
                <a:off x="617602" y="3930122"/>
                <a:ext cx="4059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/>
                  <a:t>Para actualizar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400" dirty="0"/>
                  <a:t>: </a:t>
                </a:r>
                <a:endParaRPr lang="es-CO" sz="24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70A027B-00F8-4FF5-74D5-BEC61E35C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02" y="3930122"/>
                <a:ext cx="4059743" cy="461665"/>
              </a:xfrm>
              <a:prstGeom prst="rect">
                <a:avLst/>
              </a:prstGeom>
              <a:blipFill>
                <a:blip r:embed="rId14"/>
                <a:stretch>
                  <a:fillRect l="-2252" t="-10667" b="-30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D700163-3956-61E0-DE2A-9B465A6359DA}"/>
                  </a:ext>
                </a:extLst>
              </p:cNvPr>
              <p:cNvSpPr txBox="1"/>
              <p:nvPr/>
            </p:nvSpPr>
            <p:spPr>
              <a:xfrm>
                <a:off x="5490695" y="4853711"/>
                <a:ext cx="1822678" cy="3792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D700163-3956-61E0-DE2A-9B465A635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695" y="4853711"/>
                <a:ext cx="1822678" cy="379206"/>
              </a:xfrm>
              <a:prstGeom prst="rect">
                <a:avLst/>
              </a:prstGeom>
              <a:blipFill>
                <a:blip r:embed="rId15"/>
                <a:stretch>
                  <a:fillRect l="-3679" t="-17742" r="-5351" b="-3548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E6F7467-A1B8-3012-1E93-A624FD716A28}"/>
                  </a:ext>
                </a:extLst>
              </p:cNvPr>
              <p:cNvSpPr txBox="1"/>
              <p:nvPr/>
            </p:nvSpPr>
            <p:spPr>
              <a:xfrm>
                <a:off x="1112937" y="2340322"/>
                <a:ext cx="18107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𝟔𝟐𝟐𝟓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E6F7467-A1B8-3012-1E93-A624FD716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37" y="2340322"/>
                <a:ext cx="1810752" cy="369332"/>
              </a:xfrm>
              <a:prstGeom prst="rect">
                <a:avLst/>
              </a:prstGeom>
              <a:blipFill>
                <a:blip r:embed="rId16"/>
                <a:stretch>
                  <a:fillRect l="-2020" r="-3704"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536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E259544-4921-B444-211B-5B7A8774CB1C}"/>
                  </a:ext>
                </a:extLst>
              </p:cNvPr>
              <p:cNvSpPr txBox="1"/>
              <p:nvPr/>
            </p:nvSpPr>
            <p:spPr>
              <a:xfrm>
                <a:off x="838200" y="583336"/>
                <a:ext cx="4059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/>
                  <a:t>Para actualizar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400" dirty="0"/>
                  <a:t>: </a:t>
                </a:r>
                <a:endParaRPr lang="es-CO" sz="24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E259544-4921-B444-211B-5B7A8774C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3336"/>
                <a:ext cx="4059743" cy="461665"/>
              </a:xfrm>
              <a:prstGeom prst="rect">
                <a:avLst/>
              </a:prstGeom>
              <a:blipFill>
                <a:blip r:embed="rId2"/>
                <a:stretch>
                  <a:fillRect l="-2406" t="-10667" b="-30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3FB0BEE9-E82C-60C4-AFA6-2B6052DACD0A}"/>
                  </a:ext>
                </a:extLst>
              </p:cNvPr>
              <p:cNvSpPr txBox="1"/>
              <p:nvPr/>
            </p:nvSpPr>
            <p:spPr>
              <a:xfrm>
                <a:off x="581723" y="1335271"/>
                <a:ext cx="47496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3FB0BEE9-E82C-60C4-AFA6-2B6052DAC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23" y="1335271"/>
                <a:ext cx="4749698" cy="369332"/>
              </a:xfrm>
              <a:prstGeom prst="rect">
                <a:avLst/>
              </a:prstGeom>
              <a:blipFill>
                <a:blip r:embed="rId3"/>
                <a:stretch>
                  <a:fillRect l="-1795" r="-1795" b="-344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F6C2AB4-FE70-ED44-8066-22CC44E3B67B}"/>
                  </a:ext>
                </a:extLst>
              </p:cNvPr>
              <p:cNvSpPr txBox="1"/>
              <p:nvPr/>
            </p:nvSpPr>
            <p:spPr>
              <a:xfrm>
                <a:off x="581723" y="2101780"/>
                <a:ext cx="2892074" cy="379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(1−</m:t>
                      </m:r>
                      <m:acc>
                        <m:accPr>
                          <m:chr m:val="̂"/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F6C2AB4-FE70-ED44-8066-22CC44E3B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23" y="2101780"/>
                <a:ext cx="2892074" cy="379527"/>
              </a:xfrm>
              <a:prstGeom prst="rect">
                <a:avLst/>
              </a:prstGeom>
              <a:blipFill>
                <a:blip r:embed="rId4"/>
                <a:stretch>
                  <a:fillRect l="-3158" t="-19355" r="-14316" b="-3387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8865CB5-C74E-B1EC-1EE2-EAD5360F5189}"/>
                  </a:ext>
                </a:extLst>
              </p:cNvPr>
              <p:cNvSpPr txBox="1"/>
              <p:nvPr/>
            </p:nvSpPr>
            <p:spPr>
              <a:xfrm>
                <a:off x="511098" y="2822728"/>
                <a:ext cx="55712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=0,5619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1−0,5619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=0,2462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8865CB5-C74E-B1EC-1EE2-EAD5360F5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98" y="2822728"/>
                <a:ext cx="5571205" cy="369332"/>
              </a:xfrm>
              <a:prstGeom prst="rect">
                <a:avLst/>
              </a:prstGeom>
              <a:blipFill>
                <a:blip r:embed="rId5"/>
                <a:stretch>
                  <a:fillRect l="-1532" r="-875" b="-344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2DD92C2-9967-01D9-0939-8C9EFFA73CCC}"/>
                  </a:ext>
                </a:extLst>
              </p:cNvPr>
              <p:cNvSpPr txBox="1"/>
              <p:nvPr/>
            </p:nvSpPr>
            <p:spPr>
              <a:xfrm>
                <a:off x="533400" y="3599432"/>
                <a:ext cx="5800493" cy="7639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CO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−0,4381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(0,2462)(0,6225)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2DD92C2-9967-01D9-0939-8C9EFFA73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599432"/>
                <a:ext cx="5800493" cy="763927"/>
              </a:xfrm>
              <a:prstGeom prst="rect">
                <a:avLst/>
              </a:prstGeom>
              <a:blipFill>
                <a:blip r:embed="rId6"/>
                <a:stretch>
                  <a:fillRect l="-10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64A74E3-88CC-09EE-48A1-171B0F425E26}"/>
                  </a:ext>
                </a:extLst>
              </p:cNvPr>
              <p:cNvSpPr txBox="1"/>
              <p:nvPr/>
            </p:nvSpPr>
            <p:spPr>
              <a:xfrm>
                <a:off x="519114" y="4636139"/>
                <a:ext cx="5800493" cy="7639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CO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=−0,0671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64A74E3-88CC-09EE-48A1-171B0F425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14" y="4636139"/>
                <a:ext cx="5800493" cy="7639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2849B94-BF13-88C5-8A99-1E351AD5AF9A}"/>
              </a:ext>
            </a:extLst>
          </p:cNvPr>
          <p:cNvCxnSpPr/>
          <p:nvPr/>
        </p:nvCxnSpPr>
        <p:spPr>
          <a:xfrm>
            <a:off x="6252701" y="629368"/>
            <a:ext cx="0" cy="59401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67568C9-7FAF-75A4-765A-7AAE6089E967}"/>
                  </a:ext>
                </a:extLst>
              </p:cNvPr>
              <p:cNvSpPr txBox="1"/>
              <p:nvPr/>
            </p:nvSpPr>
            <p:spPr>
              <a:xfrm>
                <a:off x="6811536" y="629368"/>
                <a:ext cx="4059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/>
                  <a:t>Para actualizar</a:t>
                </a:r>
                <a14:m>
                  <m:oMath xmlns:m="http://schemas.openxmlformats.org/officeDocument/2006/math">
                    <m:r>
                      <a:rPr lang="es-E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400" dirty="0"/>
                  <a:t>: </a:t>
                </a:r>
                <a:endParaRPr lang="es-CO" sz="24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67568C9-7FAF-75A4-765A-7AAE6089E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536" y="629368"/>
                <a:ext cx="4059743" cy="461665"/>
              </a:xfrm>
              <a:prstGeom prst="rect">
                <a:avLst/>
              </a:prstGeom>
              <a:blipFill>
                <a:blip r:embed="rId8"/>
                <a:stretch>
                  <a:fillRect l="-2252" t="-10526" b="-289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1F9321E-3ACD-F433-E906-9FAF0E9007F2}"/>
                  </a:ext>
                </a:extLst>
              </p:cNvPr>
              <p:cNvSpPr txBox="1"/>
              <p:nvPr/>
            </p:nvSpPr>
            <p:spPr>
              <a:xfrm>
                <a:off x="5766317" y="1287576"/>
                <a:ext cx="6881243" cy="586827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s-CO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CO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CO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4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m:rPr>
                        <m:nor/>
                      </m:rPr>
                      <a:rPr lang="es-ES" sz="2400" dirty="0"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CO" sz="24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1F9321E-3ACD-F433-E906-9FAF0E900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317" y="1287576"/>
                <a:ext cx="6881243" cy="5868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1523167-D013-C176-1B02-EFC37A4CFB68}"/>
                  </a:ext>
                </a:extLst>
              </p:cNvPr>
              <p:cNvSpPr txBox="1"/>
              <p:nvPr/>
            </p:nvSpPr>
            <p:spPr>
              <a:xfrm>
                <a:off x="6509097" y="2182919"/>
                <a:ext cx="48949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1523167-D013-C176-1B02-EFC37A4CF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097" y="2182919"/>
                <a:ext cx="4894930" cy="369332"/>
              </a:xfrm>
              <a:prstGeom prst="rect">
                <a:avLst/>
              </a:prstGeom>
              <a:blipFill>
                <a:blip r:embed="rId10"/>
                <a:stretch>
                  <a:fillRect l="-498" r="-498" b="-344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81DBC86-485F-EE22-6C3B-C97A8AB4CE08}"/>
                  </a:ext>
                </a:extLst>
              </p:cNvPr>
              <p:cNvSpPr txBox="1"/>
              <p:nvPr/>
            </p:nvSpPr>
            <p:spPr>
              <a:xfrm>
                <a:off x="6568687" y="3007394"/>
                <a:ext cx="43802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=0,2350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81DBC86-485F-EE22-6C3B-C97A8AB4C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687" y="3007394"/>
                <a:ext cx="4380238" cy="369332"/>
              </a:xfrm>
              <a:prstGeom prst="rect">
                <a:avLst/>
              </a:prstGeom>
              <a:blipFill>
                <a:blip r:embed="rId11"/>
                <a:stretch>
                  <a:fillRect l="-2089" r="-1393" b="-344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07761A3-055F-E760-D2A6-31733792ADE1}"/>
                  </a:ext>
                </a:extLst>
              </p:cNvPr>
              <p:cNvSpPr txBox="1"/>
              <p:nvPr/>
            </p:nvSpPr>
            <p:spPr>
              <a:xfrm>
                <a:off x="6333893" y="3739120"/>
                <a:ext cx="5631100" cy="1133259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CO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−0,4381</m:t>
                          </m:r>
                        </m:e>
                      </m:d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0,2462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(0,4)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0,2350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07761A3-055F-E760-D2A6-31733792A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893" y="3739120"/>
                <a:ext cx="5631100" cy="1133259"/>
              </a:xfrm>
              <a:prstGeom prst="rect">
                <a:avLst/>
              </a:prstGeom>
              <a:blipFill>
                <a:blip r:embed="rId12"/>
                <a:stretch>
                  <a:fillRect b="-10753"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44FB020-7292-27AB-E8F0-EE7AFCCCBCF1}"/>
                  </a:ext>
                </a:extLst>
              </p:cNvPr>
              <p:cNvSpPr txBox="1"/>
              <p:nvPr/>
            </p:nvSpPr>
            <p:spPr>
              <a:xfrm>
                <a:off x="4981462" y="5073365"/>
                <a:ext cx="5631100" cy="763927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s-CO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,0101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44FB020-7292-27AB-E8F0-EE7AFCCCB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62" y="5073365"/>
                <a:ext cx="5631100" cy="76392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399DF861-5720-BE33-1F22-1488C8EAC02A}"/>
                  </a:ext>
                </a:extLst>
              </p:cNvPr>
              <p:cNvSpPr txBox="1"/>
              <p:nvPr/>
            </p:nvSpPr>
            <p:spPr>
              <a:xfrm>
                <a:off x="6509097" y="5967189"/>
                <a:ext cx="463133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=−0,1∗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−0,0101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=0,0010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399DF861-5720-BE33-1F22-1488C8EAC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097" y="5967189"/>
                <a:ext cx="4631332" cy="369332"/>
              </a:xfrm>
              <a:prstGeom prst="rect">
                <a:avLst/>
              </a:prstGeom>
              <a:blipFill>
                <a:blip r:embed="rId14"/>
                <a:stretch>
                  <a:fillRect l="-1051" r="-1051" b="-1290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4561C4F-D831-CA60-1C86-C1F1791243D5}"/>
                  </a:ext>
                </a:extLst>
              </p:cNvPr>
              <p:cNvSpPr txBox="1"/>
              <p:nvPr/>
            </p:nvSpPr>
            <p:spPr>
              <a:xfrm>
                <a:off x="543202" y="5967189"/>
                <a:ext cx="463133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=−0,1∗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−0,0671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=0,0067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4561C4F-D831-CA60-1C86-C1F179124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2" y="5967189"/>
                <a:ext cx="4631332" cy="369332"/>
              </a:xfrm>
              <a:prstGeom prst="rect">
                <a:avLst/>
              </a:prstGeom>
              <a:blipFill>
                <a:blip r:embed="rId15"/>
                <a:stretch>
                  <a:fillRect l="-919" r="-1050" b="-1290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702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3FF47BE-78D0-44A1-AC8E-1EEB3BDF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229" y="186243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Algoritmo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941F7D5-17DC-4B5C-A904-42CF27E88ECD}"/>
              </a:ext>
            </a:extLst>
          </p:cNvPr>
          <p:cNvSpPr/>
          <p:nvPr/>
        </p:nvSpPr>
        <p:spPr>
          <a:xfrm>
            <a:off x="4581236" y="2170546"/>
            <a:ext cx="221673" cy="249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F84054F-F9C7-4499-B75C-41675E864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44" y="1352921"/>
            <a:ext cx="9594849" cy="490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55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03C29-63BE-481A-9637-4810336B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170240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Arquitecturas típicas 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669110C-5236-4C93-B448-1B2370723634}"/>
              </a:ext>
            </a:extLst>
          </p:cNvPr>
          <p:cNvCxnSpPr>
            <a:cxnSpLocks/>
          </p:cNvCxnSpPr>
          <p:nvPr/>
        </p:nvCxnSpPr>
        <p:spPr>
          <a:xfrm>
            <a:off x="6096000" y="1358283"/>
            <a:ext cx="0" cy="5140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BBDD6F26-B14E-4E94-B042-1EE4ECB8D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90646"/>
              </p:ext>
            </p:extLst>
          </p:nvPr>
        </p:nvGraphicFramePr>
        <p:xfrm>
          <a:off x="6286340" y="1358283"/>
          <a:ext cx="5277588" cy="51043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638794">
                  <a:extLst>
                    <a:ext uri="{9D8B030D-6E8A-4147-A177-3AD203B41FA5}">
                      <a16:colId xmlns:a16="http://schemas.microsoft.com/office/drawing/2014/main" val="3118464601"/>
                    </a:ext>
                  </a:extLst>
                </a:gridCol>
                <a:gridCol w="2638794">
                  <a:extLst>
                    <a:ext uri="{9D8B030D-6E8A-4147-A177-3AD203B41FA5}">
                      <a16:colId xmlns:a16="http://schemas.microsoft.com/office/drawing/2014/main" val="159264060"/>
                    </a:ext>
                  </a:extLst>
                </a:gridCol>
              </a:tblGrid>
              <a:tr h="421275">
                <a:tc gridSpan="2"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Regresión</a:t>
                      </a:r>
                      <a:endParaRPr lang="es-CO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091870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b="1" dirty="0" err="1"/>
                        <a:t>Hiperparámetros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Valores típicos</a:t>
                      </a:r>
                      <a:endParaRPr lang="es-CO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12913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No. neuronas de entrada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No. de variables predictoras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709854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No. de capas ocultas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Entre 1 y 5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520807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No. de neuronas por cada capa oculta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Entre 10 y 100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303430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No. de neuronas de salida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por dimensión de la salida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312476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Función de activación capas ocultas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ReLu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544344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Función de activación capa de salida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Ninguna, </a:t>
                      </a:r>
                      <a:r>
                        <a:rPr lang="es-ES" dirty="0" err="1"/>
                        <a:t>ReLu</a:t>
                      </a:r>
                      <a:r>
                        <a:rPr lang="es-ES" dirty="0"/>
                        <a:t>, </a:t>
                      </a:r>
                      <a:r>
                        <a:rPr lang="es-ES" dirty="0" err="1"/>
                        <a:t>Softplus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80928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Función de error o perdida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MSE </a:t>
                      </a:r>
                      <a:r>
                        <a:rPr lang="es-ES" dirty="0" err="1"/>
                        <a:t>ó</a:t>
                      </a:r>
                      <a:r>
                        <a:rPr lang="es-ES" dirty="0"/>
                        <a:t> MAE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27252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2F5E326-C089-4F54-AA10-C34A56D1D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11057"/>
              </p:ext>
            </p:extLst>
          </p:nvPr>
        </p:nvGraphicFramePr>
        <p:xfrm>
          <a:off x="554181" y="1358283"/>
          <a:ext cx="5351476" cy="466669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675738">
                  <a:extLst>
                    <a:ext uri="{9D8B030D-6E8A-4147-A177-3AD203B41FA5}">
                      <a16:colId xmlns:a16="http://schemas.microsoft.com/office/drawing/2014/main" val="3118464601"/>
                    </a:ext>
                  </a:extLst>
                </a:gridCol>
                <a:gridCol w="2675738">
                  <a:extLst>
                    <a:ext uri="{9D8B030D-6E8A-4147-A177-3AD203B41FA5}">
                      <a16:colId xmlns:a16="http://schemas.microsoft.com/office/drawing/2014/main" val="159264060"/>
                    </a:ext>
                  </a:extLst>
                </a:gridCol>
              </a:tblGrid>
              <a:tr h="421275">
                <a:tc gridSpan="2"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Clasificación</a:t>
                      </a:r>
                      <a:endParaRPr lang="es-CO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091870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b="1" dirty="0" err="1"/>
                        <a:t>Hiperparámetros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Valores típicos</a:t>
                      </a:r>
                      <a:endParaRPr lang="es-CO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12913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No. neuronas de entrada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No. de variables predictoras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709854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No. de capas ocultas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Entre 1 y 5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520807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No. de neuronas por cada capa oculta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Entre 10 y 100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303430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No. de neuronas de salida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No. de clases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312476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Función de activación capas ocultas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ReLu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544344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Función de activación capa de salida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Logistic</a:t>
                      </a:r>
                      <a:r>
                        <a:rPr lang="es-ES" dirty="0"/>
                        <a:t>, </a:t>
                      </a:r>
                      <a:r>
                        <a:rPr lang="es-ES" dirty="0" err="1"/>
                        <a:t>Softmax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80928"/>
                  </a:ext>
                </a:extLst>
              </a:tr>
              <a:tr h="421275">
                <a:tc>
                  <a:txBody>
                    <a:bodyPr/>
                    <a:lstStyle/>
                    <a:p>
                      <a:r>
                        <a:rPr lang="es-ES" dirty="0"/>
                        <a:t>Función de error o perdida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Cross-</a:t>
                      </a:r>
                      <a:r>
                        <a:rPr lang="es-ES" dirty="0" err="1"/>
                        <a:t>entropy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27252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B017B3A-BA2E-4C30-9AB6-DF6B37F90761}"/>
              </a:ext>
            </a:extLst>
          </p:cNvPr>
          <p:cNvSpPr txBox="1"/>
          <p:nvPr/>
        </p:nvSpPr>
        <p:spPr>
          <a:xfrm>
            <a:off x="523783" y="6454960"/>
            <a:ext cx="4376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Basado en </a:t>
            </a:r>
            <a:r>
              <a:rPr lang="es-ES" sz="1200" dirty="0" err="1"/>
              <a:t>Géron</a:t>
            </a:r>
            <a:r>
              <a:rPr lang="es-ES" sz="1200" dirty="0"/>
              <a:t>, 2019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805552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9F30E00-F36E-EFA9-E254-DD9B4C12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accent4">
                    <a:lumMod val="50000"/>
                  </a:schemeClr>
                </a:solidFill>
              </a:rPr>
              <a:t>Implementación</a:t>
            </a:r>
            <a:endParaRPr lang="es-CO" sz="3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308BBB-6CF5-D50B-1D65-3A529AF5C4A3}"/>
              </a:ext>
            </a:extLst>
          </p:cNvPr>
          <p:cNvSpPr txBox="1"/>
          <p:nvPr/>
        </p:nvSpPr>
        <p:spPr>
          <a:xfrm>
            <a:off x="1743682" y="1690688"/>
            <a:ext cx="73419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i="1" dirty="0" err="1"/>
              <a:t>class</a:t>
            </a:r>
            <a:r>
              <a:rPr lang="es-CO" sz="2000" i="1" dirty="0"/>
              <a:t> </a:t>
            </a:r>
            <a:r>
              <a:rPr lang="es-CO" sz="2000" dirty="0" err="1"/>
              <a:t>sklearn.neural_network.MLPClassifier</a:t>
            </a:r>
            <a:r>
              <a:rPr lang="es-CO" sz="2000" dirty="0"/>
              <a:t>(</a:t>
            </a:r>
          </a:p>
          <a:p>
            <a:r>
              <a:rPr lang="es-CO" sz="2000" i="1" dirty="0"/>
              <a:t>       </a:t>
            </a:r>
            <a:r>
              <a:rPr lang="es-CO" sz="2000" i="1" dirty="0" err="1"/>
              <a:t>hidden_layer_sizes</a:t>
            </a:r>
            <a:r>
              <a:rPr lang="es-CO" sz="2000" i="1" dirty="0"/>
              <a:t>=(100,)</a:t>
            </a:r>
            <a:r>
              <a:rPr lang="es-CO" sz="2000" dirty="0"/>
              <a:t>, </a:t>
            </a:r>
          </a:p>
          <a:p>
            <a:r>
              <a:rPr lang="es-CO" sz="2000" i="1" dirty="0"/>
              <a:t>       </a:t>
            </a:r>
            <a:r>
              <a:rPr lang="es-CO" sz="2000" i="1" dirty="0" err="1"/>
              <a:t>activation</a:t>
            </a:r>
            <a:r>
              <a:rPr lang="es-CO" sz="2000" i="1" dirty="0"/>
              <a:t>='</a:t>
            </a:r>
            <a:r>
              <a:rPr lang="es-CO" sz="2000" i="1" dirty="0" err="1"/>
              <a:t>relu</a:t>
            </a:r>
            <a:r>
              <a:rPr lang="es-CO" sz="2000" i="1" dirty="0"/>
              <a:t>’</a:t>
            </a:r>
            <a:r>
              <a:rPr lang="es-CO" sz="2000" dirty="0"/>
              <a:t>, </a:t>
            </a:r>
            <a:endParaRPr lang="es-CO" sz="2000" i="1" dirty="0"/>
          </a:p>
          <a:p>
            <a:r>
              <a:rPr lang="es-CO" sz="2000" i="1" dirty="0"/>
              <a:t>      </a:t>
            </a:r>
            <a:r>
              <a:rPr lang="es-CO" sz="2000" dirty="0"/>
              <a:t> </a:t>
            </a:r>
            <a:r>
              <a:rPr lang="es-CO" sz="2000" i="1" dirty="0" err="1"/>
              <a:t>solver</a:t>
            </a:r>
            <a:r>
              <a:rPr lang="es-CO" sz="2000" i="1" dirty="0"/>
              <a:t>='</a:t>
            </a:r>
            <a:r>
              <a:rPr lang="es-CO" sz="2000" i="1" dirty="0" err="1"/>
              <a:t>adam</a:t>
            </a:r>
            <a:r>
              <a:rPr lang="es-CO" sz="2000" i="1" dirty="0"/>
              <a:t>’</a:t>
            </a:r>
            <a:r>
              <a:rPr lang="es-CO" sz="2000" dirty="0"/>
              <a:t>, </a:t>
            </a:r>
          </a:p>
          <a:p>
            <a:r>
              <a:rPr lang="es-CO" sz="2000" i="1" dirty="0"/>
              <a:t>       </a:t>
            </a:r>
            <a:r>
              <a:rPr lang="es-CO" sz="2000" i="1" dirty="0" err="1"/>
              <a:t>alpha</a:t>
            </a:r>
            <a:r>
              <a:rPr lang="es-CO" sz="2000" i="1" dirty="0"/>
              <a:t>=0.0001</a:t>
            </a:r>
            <a:r>
              <a:rPr lang="es-CO" sz="2000" dirty="0"/>
              <a:t>, </a:t>
            </a:r>
          </a:p>
          <a:p>
            <a:r>
              <a:rPr lang="es-CO" sz="2000" i="1" dirty="0"/>
              <a:t>       </a:t>
            </a:r>
            <a:r>
              <a:rPr lang="es-CO" sz="2000" i="1" dirty="0" err="1"/>
              <a:t>max_iter</a:t>
            </a:r>
            <a:r>
              <a:rPr lang="es-CO" sz="2000" i="1" dirty="0"/>
              <a:t>=200</a:t>
            </a:r>
            <a:r>
              <a:rPr lang="es-CO" sz="2000" dirty="0"/>
              <a:t>, </a:t>
            </a:r>
          </a:p>
          <a:p>
            <a:r>
              <a:rPr lang="es-CO" sz="2000" i="1" dirty="0"/>
              <a:t>       </a:t>
            </a:r>
            <a:r>
              <a:rPr lang="es-CO" sz="2000" i="1" dirty="0" err="1"/>
              <a:t>momentum</a:t>
            </a:r>
            <a:r>
              <a:rPr lang="es-CO" sz="2000" i="1" dirty="0"/>
              <a:t>=0.9)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566399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4392</TotalTime>
  <Words>1269</Words>
  <Application>Microsoft Office PowerPoint</Application>
  <PresentationFormat>Panorámica</PresentationFormat>
  <Paragraphs>293</Paragraphs>
  <Slides>26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Helvetica Neue</vt:lpstr>
      <vt:lpstr>MinionPro-Regular</vt:lpstr>
      <vt:lpstr>Office Theme</vt:lpstr>
      <vt:lpstr>Redes neuronales</vt:lpstr>
      <vt:lpstr>Redes Neuronales</vt:lpstr>
      <vt:lpstr>Un poco de historia</vt:lpstr>
      <vt:lpstr>Una neurona artificial</vt:lpstr>
      <vt:lpstr>Recordando regresión logística</vt:lpstr>
      <vt:lpstr>Presentación de PowerPoint</vt:lpstr>
      <vt:lpstr>Funciones de activación</vt:lpstr>
      <vt:lpstr>Funciones de activación</vt:lpstr>
      <vt:lpstr>Perceptron</vt:lpstr>
      <vt:lpstr>Regla de aprendizaje </vt:lpstr>
      <vt:lpstr>Problemas linealmente separables</vt:lpstr>
      <vt:lpstr>El problema del XOR</vt:lpstr>
      <vt:lpstr>Pereceptron multicapas</vt:lpstr>
      <vt:lpstr>Entrenamiento</vt:lpstr>
      <vt:lpstr>Perceptron multicapas</vt:lpstr>
      <vt:lpstr>Presentación de PowerPoint</vt:lpstr>
      <vt:lpstr>Gradiente descendiente</vt:lpstr>
      <vt:lpstr>Backpropagation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Algoritmo</vt:lpstr>
      <vt:lpstr>Arquitecturas típicas </vt:lpstr>
      <vt:lpstr>Implementación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Deep Learning</dc:title>
  <dc:creator>Idanis Beatriz Diaz Bolaño</dc:creator>
  <cp:lastModifiedBy>Idanis Beatriz Diaz Bolaño</cp:lastModifiedBy>
  <cp:revision>74</cp:revision>
  <dcterms:created xsi:type="dcterms:W3CDTF">2021-01-28T23:01:19Z</dcterms:created>
  <dcterms:modified xsi:type="dcterms:W3CDTF">2026-05-12T03:28:03Z</dcterms:modified>
</cp:coreProperties>
</file>